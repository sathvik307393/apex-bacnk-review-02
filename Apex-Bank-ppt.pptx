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NexaBank technical overview. NexaBank is a fully cloud-native banking platform built ground-up on Microsoft Azure. Today we'll walk through the business challenge we set out to solve, the architecture we designed, and the business impact it delivers. This deck is designed for both technical stakeholders and business executives.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banking industry is at an inflection point. Legacy monolithic platforms were designed for predictable, low-volume transactions — not the 24/7, global, mobile-first demands of modern customers. Three core problems drive the NexaBank initiative: first, monoliths cannot scale individual services independently; second, deployment cycles measured in weeks kill competitive agility; and third, flat-network, credential-embedded architectures create existential security risk. The statistics on the right quantify the business impact.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NexaBank replaces the monolithic paradigm with a cloud-native microservices architecture on Microsoft Azure. The key transformation: each business domain becomes an independently deployable service. Secrets are managed through Azure Key Vault. Infrastructure is reproducible via Terraform. And every code push triggers an automated pipeline that delivers features to production within minutes, not weeks. The right column shows what the platform delivers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NexaBank comprises eight purpose-built Node.js microservices. The API Gateway is the single entry point for all client traffic — it validates tokens and routes requests. Auth Service handles authentication using JWT and OAuth 2.0. User Service manages customer profiles. Transaction Service processes payments and maintains the ledger. KYC and Document Processor handle identity verification through Azure Blob Storage and Microsoft Entra ID. Audit Service creates immutable compliance logs. Admin Service provides role-based administration, and Notification uses Azure Service Bus for reliable async messaging.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infrastructure backbone is Azure Kubernetes Service running in the North Europe region inside the apex-bank-rg resource group. The virtual network (172.16.0.0/24) is segmented into four subnets: the application-gateway subnet, the AKS cluster subnet, the postgres-db subnet with FlexibleServer delegation, and the private-endpoint subnet. Azure Front Door sits at the edge for global routing and DDoS protection. The Application Gateway acts as the AKS ingress controller, handling SSL termination and backend routing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NexaBank uses two primary data stores. Azure PostgreSQL Flexible Server provides the core relational database for all transactional data. It runs in a delegated subnet, accessible only via Private Endpoint — it has no public IP address. Azure Service Bus provides the asynchronous messaging fabric. When a document upload triggers a KYC check, or when a transaction triggers a notification, these events flow through Service Bus queues. This decoupling ensures that a slowdown in the notification service never impacts transaction processing.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NexaBank implements zero-trust security at six layers. The CSI Secrets Store driver is the cornerstone — secrets are mounted as ephemeral volumes inside pods and never stored in environment variables or config maps. The WAF at Azure Front Door stops known attack vectors before they reach the application tier. Managed Identities eliminate credential sprawl between Azure services. Network isolation means the database is unreachable from the public internet. Log Analytics captures everything for compliance audit. And all data — in motion and at rest — is encrypted.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Azure resource in NexaBank is defined as Terraform HCL. The codebase is organized into purpose-specific modules: networking, AKS, database, key vault, service bus, monitoring, and front door. This means a new Dev environment can be spun up in under 30 minutes, and destroyed overnight to save costs. All infrastructure changes go through Git pull requests — the same process as application code — providing a full audit trail of every change made to the cloud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covers six real friction points encountered while building NexaBank. 1) Globally unique naming: Azure storage and vault names collide across tenants — solved with a consistent convention plus random suffixes. 2) VM SKU availability: certain sizes aren't available in all regions — solved by querying available SKUs and parameterising the node size in Terraform. 3) CSI Secrets Store: workload identity binding failures were silent — fixed by explicitly wiring the OIDC issuer URL. 4) Private DNS conflicts: CoreDNS inside AKS clashed with the PostgreSQL private zone — fixed with an explicit VNet link and CoreDNS stub zone. 5) AGIC sync lag: Application Gateway routing updates take minutes to propagate — mitigated with readiness probes and pipeline health checks. 6) Terraform state locking: concurrent applies corrupted remote state — fixed with lease-based locking and pipeline-only apply on 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NexaBank delivers four measurable business outcomes. First, deployment time drops from weeks to under five minutes, enabling continuous delivery of new financial features. Second, the zero-trust security architecture meets enterprise compliance requirements out of the box. Third, the Horizontal Pod Autoscaler and Azure Front Door provide genuine elastic scale — the platform handled load test scenarios simulating a ten-times traffic spike without degradation. Finally, using fully managed Azure services and IaC eliminates routine infrastructure maintenance, freeing engineering resources for product innovation. The platform is live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1097280" y="-1371600"/>
            <a:ext cx="5486400" cy="5486400"/>
          </a:xfrm>
          <a:prstGeom prst="ellipse">
            <a:avLst/>
          </a:prstGeom>
          <a:solidFill>
            <a:srgbClr val="1A3A5C">
              <a:alpha val="25000"/>
            </a:srgbClr>
          </a:solidFill>
          <a:ln w="12700">
            <a:solidFill>
              <a:srgbClr val="1A3A5C">
                <a:alpha val="25000"/>
              </a:srgbClr>
            </a:solidFill>
            <a:prstDash val="solid"/>
          </a:ln>
        </p:spPr>
      </p:sp>
      <p:sp>
        <p:nvSpPr>
          <p:cNvPr id="3" name="Shape 1"/>
          <p:cNvSpPr/>
          <p:nvPr/>
        </p:nvSpPr>
        <p:spPr>
          <a:xfrm>
            <a:off x="8686800" y="3200400"/>
            <a:ext cx="4572000" cy="4572000"/>
          </a:xfrm>
          <a:prstGeom prst="ellipse">
            <a:avLst/>
          </a:prstGeom>
          <a:solidFill>
            <a:srgbClr val="0089C8">
              <a:alpha val="15000"/>
            </a:srgbClr>
          </a:solidFill>
          <a:ln w="12700">
            <a:solidFill>
              <a:srgbClr val="0089C8">
                <a:alpha val="15000"/>
              </a:srgbClr>
            </a:solidFill>
            <a:prstDash val="solid"/>
          </a:ln>
        </p:spPr>
      </p:sp>
      <p:sp>
        <p:nvSpPr>
          <p:cNvPr id="4" name="Shape 2"/>
          <p:cNvSpPr/>
          <p:nvPr/>
        </p:nvSpPr>
        <p:spPr>
          <a:xfrm>
            <a:off x="7315200" y="-457200"/>
            <a:ext cx="2743200" cy="2743200"/>
          </a:xfrm>
          <a:prstGeom prst="ellipse">
            <a:avLst/>
          </a:prstGeom>
          <a:solidFill>
            <a:srgbClr val="00C8FF">
              <a:alpha val="10000"/>
            </a:srgbClr>
          </a:solidFill>
          <a:ln w="12700">
            <a:solidFill>
              <a:srgbClr val="00C8FF">
                <a:alpha val="12000"/>
              </a:srgbClr>
            </a:solidFill>
            <a:prstDash val="solid"/>
          </a:ln>
        </p:spPr>
      </p:sp>
      <p:sp>
        <p:nvSpPr>
          <p:cNvPr id="5" name="Shape 3"/>
          <p:cNvSpPr/>
          <p:nvPr/>
        </p:nvSpPr>
        <p:spPr>
          <a:xfrm>
            <a:off x="1371600" y="3063240"/>
            <a:ext cx="3200400" cy="36576"/>
          </a:xfrm>
          <a:prstGeom prst="rect">
            <a:avLst/>
          </a:prstGeom>
          <a:solidFill>
            <a:srgbClr val="00C8FF"/>
          </a:solidFill>
          <a:ln w="12700">
            <a:solidFill>
              <a:srgbClr val="00C8FF"/>
            </a:solidFill>
            <a:prstDash val="solid"/>
          </a:ln>
        </p:spPr>
      </p:sp>
      <p:pic>
        <p:nvPicPr>
          <p:cNvPr id="6" name="Image 0" descr="preencoded.png">    </p:cNvPr>
          <p:cNvPicPr>
            <a:picLocks noChangeAspect="1"/>
          </p:cNvPicPr>
          <p:nvPr/>
        </p:nvPicPr>
        <p:blipFill>
          <a:blip r:embed="rId1"/>
          <a:stretch>
            <a:fillRect/>
          </a:stretch>
        </p:blipFill>
        <p:spPr>
          <a:xfrm>
            <a:off x="1371600" y="1463040"/>
            <a:ext cx="685800" cy="685800"/>
          </a:xfrm>
          <a:prstGeom prst="rect">
            <a:avLst/>
          </a:prstGeom>
        </p:spPr>
      </p:pic>
      <p:sp>
        <p:nvSpPr>
          <p:cNvPr id="7" name="Text 4"/>
          <p:cNvSpPr/>
          <p:nvPr/>
        </p:nvSpPr>
        <p:spPr>
          <a:xfrm>
            <a:off x="1371600" y="1920240"/>
            <a:ext cx="6400800" cy="960120"/>
          </a:xfrm>
          <a:prstGeom prst="rect">
            <a:avLst/>
          </a:prstGeom>
          <a:noFill/>
          <a:ln/>
        </p:spPr>
        <p:txBody>
          <a:bodyPr wrap="square" lIns="0" tIns="0" rIns="0" bIns="0" rtlCol="0" anchor="ctr"/>
          <a:lstStyle/>
          <a:p>
            <a:pPr indent="0" marL="0">
              <a:buNone/>
            </a:pPr>
            <a:r>
              <a:rPr lang="en-US" sz="6400" b="1" dirty="0">
                <a:solidFill>
                  <a:srgbClr val="FFFFFF"/>
                </a:solidFill>
                <a:latin typeface="Cambria" pitchFamily="34" charset="0"/>
                <a:ea typeface="Cambria" pitchFamily="34" charset="-122"/>
                <a:cs typeface="Cambria" pitchFamily="34" charset="-120"/>
              </a:rPr>
              <a:t>NexaBank</a:t>
            </a:r>
            <a:endParaRPr lang="en-US" sz="6400" dirty="0"/>
          </a:p>
        </p:txBody>
      </p:sp>
      <p:sp>
        <p:nvSpPr>
          <p:cNvPr id="8" name="Text 5"/>
          <p:cNvSpPr/>
          <p:nvPr/>
        </p:nvSpPr>
        <p:spPr>
          <a:xfrm>
            <a:off x="1371600" y="3200400"/>
            <a:ext cx="7315200" cy="548640"/>
          </a:xfrm>
          <a:prstGeom prst="rect">
            <a:avLst/>
          </a:prstGeom>
          <a:noFill/>
          <a:ln/>
        </p:spPr>
        <p:txBody>
          <a:bodyPr wrap="square" lIns="0" tIns="0" rIns="0" bIns="0" rtlCol="0" anchor="ctr"/>
          <a:lstStyle/>
          <a:p>
            <a:pPr indent="0" marL="0">
              <a:buNone/>
            </a:pPr>
            <a:r>
              <a:rPr lang="en-US" sz="2000" dirty="0">
                <a:solidFill>
                  <a:srgbClr val="00C8FF"/>
                </a:solidFill>
                <a:latin typeface="Calibri" pitchFamily="34" charset="0"/>
                <a:ea typeface="Calibri" pitchFamily="34" charset="-122"/>
                <a:cs typeface="Calibri" pitchFamily="34" charset="-120"/>
              </a:rPr>
              <a:t>Next-Generation Cloud-Native Banking Infrastructure</a:t>
            </a:r>
            <a:endParaRPr lang="en-US" sz="2000" dirty="0"/>
          </a:p>
        </p:txBody>
      </p:sp>
      <p:sp>
        <p:nvSpPr>
          <p:cNvPr id="9" name="Text 6"/>
          <p:cNvSpPr/>
          <p:nvPr/>
        </p:nvSpPr>
        <p:spPr>
          <a:xfrm>
            <a:off x="1371600" y="3840480"/>
            <a:ext cx="8229600" cy="365760"/>
          </a:xfrm>
          <a:prstGeom prst="rect">
            <a:avLst/>
          </a:prstGeom>
          <a:noFill/>
          <a:ln/>
        </p:spPr>
        <p:txBody>
          <a:bodyPr wrap="square" lIns="0" tIns="0" rIns="0" bIns="0" rtlCol="0" anchor="ctr"/>
          <a:lstStyle/>
          <a:p>
            <a:pPr indent="0" marL="0">
              <a:buNone/>
            </a:pPr>
            <a:r>
              <a:rPr lang="en-US" sz="1300" dirty="0">
                <a:solidFill>
                  <a:srgbClr val="A8BBCC"/>
                </a:solidFill>
                <a:latin typeface="Calibri" pitchFamily="34" charset="0"/>
                <a:ea typeface="Calibri" pitchFamily="34" charset="-122"/>
                <a:cs typeface="Calibri" pitchFamily="34" charset="-120"/>
              </a:rPr>
              <a:t>Built on Microsoft Azure  •  Powered by AKS &amp; Microservices  •  Secured by Design</a:t>
            </a:r>
            <a:endParaRPr lang="en-US" sz="1300" dirty="0"/>
          </a:p>
        </p:txBody>
      </p:sp>
      <p:sp>
        <p:nvSpPr>
          <p:cNvPr id="10" name="Shape 7"/>
          <p:cNvSpPr/>
          <p:nvPr/>
        </p:nvSpPr>
        <p:spPr>
          <a:xfrm>
            <a:off x="1371600" y="4572000"/>
            <a:ext cx="2103120" cy="411480"/>
          </a:xfrm>
          <a:prstGeom prst="roundRect">
            <a:avLst>
              <a:gd name="adj" fmla="val 26667"/>
            </a:avLst>
          </a:prstGeom>
          <a:solidFill>
            <a:srgbClr val="112347"/>
          </a:solidFill>
          <a:ln w="12700">
            <a:solidFill>
              <a:srgbClr val="00C8FF"/>
            </a:solidFill>
            <a:prstDash val="solid"/>
          </a:ln>
        </p:spPr>
      </p:sp>
      <p:sp>
        <p:nvSpPr>
          <p:cNvPr id="11" name="Text 8"/>
          <p:cNvSpPr/>
          <p:nvPr/>
        </p:nvSpPr>
        <p:spPr>
          <a:xfrm>
            <a:off x="1371600" y="4572000"/>
            <a:ext cx="2103120" cy="411480"/>
          </a:xfrm>
          <a:prstGeom prst="rect">
            <a:avLst/>
          </a:prstGeom>
          <a:noFill/>
          <a:ln/>
        </p:spPr>
        <p:txBody>
          <a:bodyPr wrap="square" lIns="0" tIns="0" rIns="0" bIns="0" rtlCol="0" anchor="ctr"/>
          <a:lstStyle/>
          <a:p>
            <a:pPr algn="ctr" indent="0" marL="0">
              <a:buNone/>
            </a:pPr>
            <a:r>
              <a:rPr lang="en-US" sz="1000" dirty="0">
                <a:solidFill>
                  <a:srgbClr val="00C8FF"/>
                </a:solidFill>
                <a:latin typeface="Calibri" pitchFamily="34" charset="0"/>
                <a:ea typeface="Calibri" pitchFamily="34" charset="-122"/>
                <a:cs typeface="Calibri" pitchFamily="34" charset="-120"/>
              </a:rPr>
              <a:t>Azure Kubernetes Service</a:t>
            </a:r>
            <a:endParaRPr lang="en-US" sz="1000" dirty="0"/>
          </a:p>
        </p:txBody>
      </p:sp>
      <p:sp>
        <p:nvSpPr>
          <p:cNvPr id="12" name="Shape 9"/>
          <p:cNvSpPr/>
          <p:nvPr/>
        </p:nvSpPr>
        <p:spPr>
          <a:xfrm>
            <a:off x="3657600" y="4572000"/>
            <a:ext cx="2103120" cy="411480"/>
          </a:xfrm>
          <a:prstGeom prst="roundRect">
            <a:avLst>
              <a:gd name="adj" fmla="val 26667"/>
            </a:avLst>
          </a:prstGeom>
          <a:solidFill>
            <a:srgbClr val="112347"/>
          </a:solidFill>
          <a:ln w="12700">
            <a:solidFill>
              <a:srgbClr val="00C8FF"/>
            </a:solidFill>
            <a:prstDash val="solid"/>
          </a:ln>
        </p:spPr>
      </p:sp>
      <p:sp>
        <p:nvSpPr>
          <p:cNvPr id="13" name="Text 10"/>
          <p:cNvSpPr/>
          <p:nvPr/>
        </p:nvSpPr>
        <p:spPr>
          <a:xfrm>
            <a:off x="3657600" y="4572000"/>
            <a:ext cx="2103120" cy="411480"/>
          </a:xfrm>
          <a:prstGeom prst="rect">
            <a:avLst/>
          </a:prstGeom>
          <a:noFill/>
          <a:ln/>
        </p:spPr>
        <p:txBody>
          <a:bodyPr wrap="square" lIns="0" tIns="0" rIns="0" bIns="0" rtlCol="0" anchor="ctr"/>
          <a:lstStyle/>
          <a:p>
            <a:pPr algn="ctr" indent="0" marL="0">
              <a:buNone/>
            </a:pPr>
            <a:r>
              <a:rPr lang="en-US" sz="1000" dirty="0">
                <a:solidFill>
                  <a:srgbClr val="00C8FF"/>
                </a:solidFill>
                <a:latin typeface="Calibri" pitchFamily="34" charset="0"/>
                <a:ea typeface="Calibri" pitchFamily="34" charset="-122"/>
                <a:cs typeface="Calibri" pitchFamily="34" charset="-120"/>
              </a:rPr>
              <a:t>GitHub Actions CI/CD</a:t>
            </a:r>
            <a:endParaRPr lang="en-US" sz="1000" dirty="0"/>
          </a:p>
        </p:txBody>
      </p:sp>
      <p:sp>
        <p:nvSpPr>
          <p:cNvPr id="14" name="Shape 11"/>
          <p:cNvSpPr/>
          <p:nvPr/>
        </p:nvSpPr>
        <p:spPr>
          <a:xfrm>
            <a:off x="5943600" y="4572000"/>
            <a:ext cx="2103120" cy="411480"/>
          </a:xfrm>
          <a:prstGeom prst="roundRect">
            <a:avLst>
              <a:gd name="adj" fmla="val 26667"/>
            </a:avLst>
          </a:prstGeom>
          <a:solidFill>
            <a:srgbClr val="112347"/>
          </a:solidFill>
          <a:ln w="12700">
            <a:solidFill>
              <a:srgbClr val="00C8FF"/>
            </a:solidFill>
            <a:prstDash val="solid"/>
          </a:ln>
        </p:spPr>
      </p:sp>
      <p:sp>
        <p:nvSpPr>
          <p:cNvPr id="15" name="Text 12"/>
          <p:cNvSpPr/>
          <p:nvPr/>
        </p:nvSpPr>
        <p:spPr>
          <a:xfrm>
            <a:off x="5943600" y="4572000"/>
            <a:ext cx="2103120" cy="411480"/>
          </a:xfrm>
          <a:prstGeom prst="rect">
            <a:avLst/>
          </a:prstGeom>
          <a:noFill/>
          <a:ln/>
        </p:spPr>
        <p:txBody>
          <a:bodyPr wrap="square" lIns="0" tIns="0" rIns="0" bIns="0" rtlCol="0" anchor="ctr"/>
          <a:lstStyle/>
          <a:p>
            <a:pPr algn="ctr" indent="0" marL="0">
              <a:buNone/>
            </a:pPr>
            <a:r>
              <a:rPr lang="en-US" sz="1000" dirty="0">
                <a:solidFill>
                  <a:srgbClr val="00C8FF"/>
                </a:solidFill>
                <a:latin typeface="Calibri" pitchFamily="34" charset="0"/>
                <a:ea typeface="Calibri" pitchFamily="34" charset="-122"/>
                <a:cs typeface="Calibri" pitchFamily="34" charset="-120"/>
              </a:rPr>
              <a:t>Zero-Trust Security</a:t>
            </a:r>
            <a:endParaRPr lang="en-US" sz="1000" dirty="0"/>
          </a:p>
        </p:txBody>
      </p:sp>
      <p:sp>
        <p:nvSpPr>
          <p:cNvPr id="16" name="Shape 13"/>
          <p:cNvSpPr/>
          <p:nvPr/>
        </p:nvSpPr>
        <p:spPr>
          <a:xfrm>
            <a:off x="8229600" y="4572000"/>
            <a:ext cx="2103120" cy="411480"/>
          </a:xfrm>
          <a:prstGeom prst="roundRect">
            <a:avLst>
              <a:gd name="adj" fmla="val 26667"/>
            </a:avLst>
          </a:prstGeom>
          <a:solidFill>
            <a:srgbClr val="112347"/>
          </a:solidFill>
          <a:ln w="12700">
            <a:solidFill>
              <a:srgbClr val="00C8FF"/>
            </a:solidFill>
            <a:prstDash val="solid"/>
          </a:ln>
        </p:spPr>
      </p:sp>
      <p:sp>
        <p:nvSpPr>
          <p:cNvPr id="17" name="Text 14"/>
          <p:cNvSpPr/>
          <p:nvPr/>
        </p:nvSpPr>
        <p:spPr>
          <a:xfrm>
            <a:off x="8229600" y="4572000"/>
            <a:ext cx="2103120" cy="411480"/>
          </a:xfrm>
          <a:prstGeom prst="rect">
            <a:avLst/>
          </a:prstGeom>
          <a:noFill/>
          <a:ln/>
        </p:spPr>
        <p:txBody>
          <a:bodyPr wrap="square" lIns="0" tIns="0" rIns="0" bIns="0" rtlCol="0" anchor="ctr"/>
          <a:lstStyle/>
          <a:p>
            <a:pPr algn="ctr" indent="0" marL="0">
              <a:buNone/>
            </a:pPr>
            <a:r>
              <a:rPr lang="en-US" sz="1000" dirty="0">
                <a:solidFill>
                  <a:srgbClr val="00C8FF"/>
                </a:solidFill>
                <a:latin typeface="Calibri" pitchFamily="34" charset="0"/>
                <a:ea typeface="Calibri" pitchFamily="34" charset="-122"/>
                <a:cs typeface="Calibri" pitchFamily="34" charset="-120"/>
              </a:rPr>
              <a:t>IaC with Terraform</a:t>
            </a:r>
            <a:endParaRPr lang="en-US" sz="1000" dirty="0"/>
          </a:p>
        </p:txBody>
      </p:sp>
      <p:sp>
        <p:nvSpPr>
          <p:cNvPr id="18" name="Shape 15"/>
          <p:cNvSpPr/>
          <p:nvPr/>
        </p:nvSpPr>
        <p:spPr>
          <a:xfrm>
            <a:off x="0" y="6309360"/>
            <a:ext cx="12161520" cy="548640"/>
          </a:xfrm>
          <a:prstGeom prst="rect">
            <a:avLst/>
          </a:prstGeom>
          <a:solidFill>
            <a:srgbClr val="0D2040"/>
          </a:solidFill>
          <a:ln w="12700">
            <a:solidFill>
              <a:srgbClr val="0D2040"/>
            </a:solidFill>
            <a:prstDash val="solid"/>
          </a:ln>
        </p:spPr>
      </p:sp>
      <p:sp>
        <p:nvSpPr>
          <p:cNvPr id="19" name="Text 16"/>
          <p:cNvSpPr/>
          <p:nvPr/>
        </p:nvSpPr>
        <p:spPr>
          <a:xfrm>
            <a:off x="457200" y="6327648"/>
            <a:ext cx="11247120" cy="411480"/>
          </a:xfrm>
          <a:prstGeom prst="rect">
            <a:avLst/>
          </a:prstGeom>
          <a:noFill/>
          <a:ln/>
        </p:spPr>
        <p:txBody>
          <a:bodyPr wrap="square" lIns="0" tIns="0" rIns="0" bIns="0" rtlCol="0" anchor="ctr"/>
          <a:lstStyle/>
          <a:p>
            <a:pPr indent="0" marL="0">
              <a:buNone/>
            </a:pPr>
            <a:r>
              <a:rPr lang="en-US" sz="1000" dirty="0">
                <a:solidFill>
                  <a:srgbClr val="5A7A9A"/>
                </a:solidFill>
                <a:latin typeface="Calibri" pitchFamily="34" charset="0"/>
                <a:ea typeface="Calibri" pitchFamily="34" charset="-122"/>
                <a:cs typeface="Calibri" pitchFamily="34" charset="-120"/>
              </a:rPr>
              <a:t>CONFIDENTIAL  |  NexaBank Technical Overview  |  2025</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2040"/>
          </a:solidFill>
          <a:ln w="12700">
            <a:solidFill>
              <a:srgbClr val="0D2040"/>
            </a:solidFill>
            <a:prstDash val="solid"/>
          </a:ln>
        </p:spPr>
      </p:sp>
      <p:sp>
        <p:nvSpPr>
          <p:cNvPr id="3" name="Shape 1"/>
          <p:cNvSpPr/>
          <p:nvPr/>
        </p:nvSpPr>
        <p:spPr>
          <a:xfrm>
            <a:off x="228600" y="137160"/>
            <a:ext cx="384048" cy="384048"/>
          </a:xfrm>
          <a:prstGeom prst="ellipse">
            <a:avLst/>
          </a:prstGeom>
          <a:solidFill>
            <a:srgbClr val="00C8FF">
              <a:alpha val="80000"/>
            </a:srgbClr>
          </a:solidFill>
          <a:ln w="12700">
            <a:solidFill>
              <a:srgbClr val="00C8FF"/>
            </a:solidFill>
            <a:prstDash val="solid"/>
          </a:ln>
        </p:spPr>
      </p:sp>
      <p:sp>
        <p:nvSpPr>
          <p:cNvPr id="4" name="Shape 2"/>
          <p:cNvSpPr/>
          <p:nvPr/>
        </p:nvSpPr>
        <p:spPr>
          <a:xfrm>
            <a:off x="502920" y="256032"/>
            <a:ext cx="164592" cy="164592"/>
          </a:xfrm>
          <a:prstGeom prst="ellipse">
            <a:avLst/>
          </a:prstGeom>
          <a:solidFill>
            <a:srgbClr val="00C8FF">
              <a:alpha val="60000"/>
            </a:srgbClr>
          </a:solidFill>
          <a:ln w="12700">
            <a:solidFill>
              <a:srgbClr val="00C8FF"/>
            </a:solidFill>
            <a:prstDash val="solid"/>
          </a:ln>
        </p:spPr>
      </p:sp>
      <p:sp>
        <p:nvSpPr>
          <p:cNvPr id="5" name="Text 3"/>
          <p:cNvSpPr/>
          <p:nvPr/>
        </p:nvSpPr>
        <p:spPr>
          <a:xfrm>
            <a:off x="777240" y="73152"/>
            <a:ext cx="6858000" cy="50292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The Business Challenge</a:t>
            </a:r>
            <a:endParaRPr lang="en-US" sz="2200" dirty="0"/>
          </a:p>
        </p:txBody>
      </p:sp>
      <p:sp>
        <p:nvSpPr>
          <p:cNvPr id="6" name="Text 4"/>
          <p:cNvSpPr/>
          <p:nvPr/>
        </p:nvSpPr>
        <p:spPr>
          <a:xfrm>
            <a:off x="777240" y="73152"/>
            <a:ext cx="6858000" cy="502920"/>
          </a:xfrm>
          <a:prstGeom prst="rect">
            <a:avLst/>
          </a:prstGeom>
          <a:noFill/>
          <a:ln/>
        </p:spPr>
        <p:txBody>
          <a:bodyPr wrap="square" lIns="0" tIns="0" rIns="0" bIns="0" rtlCol="0" anchor="ctr"/>
          <a:lstStyle/>
          <a:p>
            <a:pPr algn="r" indent="0" marL="0">
              <a:buNone/>
            </a:pPr>
            <a:r>
              <a:rPr lang="en-US" sz="1300" dirty="0">
                <a:solidFill>
                  <a:srgbClr val="00C8FF"/>
                </a:solidFill>
                <a:latin typeface="Calibri" pitchFamily="34" charset="0"/>
                <a:ea typeface="Calibri" pitchFamily="34" charset="-122"/>
                <a:cs typeface="Calibri" pitchFamily="34" charset="-120"/>
              </a:rPr>
              <a:t>Why Legacy Banking Systems Fail</a:t>
            </a:r>
            <a:endParaRPr lang="en-US" sz="1300" dirty="0"/>
          </a:p>
        </p:txBody>
      </p:sp>
      <p:sp>
        <p:nvSpPr>
          <p:cNvPr id="7" name="Shape 5"/>
          <p:cNvSpPr/>
          <p:nvPr/>
        </p:nvSpPr>
        <p:spPr>
          <a:xfrm>
            <a:off x="8412480" y="109728"/>
            <a:ext cx="548640" cy="438912"/>
          </a:xfrm>
          <a:prstGeom prst="roundRect">
            <a:avLst>
              <a:gd name="adj" fmla="val 16667"/>
            </a:avLst>
          </a:prstGeom>
          <a:solidFill>
            <a:srgbClr val="00C8FF"/>
          </a:solidFill>
          <a:ln w="12700">
            <a:solidFill>
              <a:srgbClr val="00C8FF"/>
            </a:solidFill>
            <a:prstDash val="solid"/>
          </a:ln>
        </p:spPr>
      </p:sp>
      <p:sp>
        <p:nvSpPr>
          <p:cNvPr id="8" name="Text 6"/>
          <p:cNvSpPr/>
          <p:nvPr/>
        </p:nvSpPr>
        <p:spPr>
          <a:xfrm>
            <a:off x="457200" y="822960"/>
            <a:ext cx="5303520" cy="77724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Traditional Banking Systems Are Holding Institutions Back</a:t>
            </a:r>
            <a:endParaRPr lang="en-US" sz="2000" dirty="0"/>
          </a:p>
        </p:txBody>
      </p:sp>
      <p:sp>
        <p:nvSpPr>
          <p:cNvPr id="9" name="Text 7"/>
          <p:cNvSpPr/>
          <p:nvPr/>
        </p:nvSpPr>
        <p:spPr>
          <a:xfrm>
            <a:off x="457200" y="1600200"/>
            <a:ext cx="5303520" cy="777240"/>
          </a:xfrm>
          <a:prstGeom prst="rect">
            <a:avLst/>
          </a:prstGeom>
          <a:noFill/>
          <a:ln/>
        </p:spPr>
        <p:txBody>
          <a:bodyPr wrap="square" lIns="0" tIns="0" rIns="0" bIns="0" rtlCol="0" anchor="ctr"/>
          <a:lstStyle/>
          <a:p>
            <a:pPr indent="0" marL="0">
              <a:buNone/>
            </a:pPr>
            <a:r>
              <a:rPr lang="en-US" sz="1300" dirty="0">
                <a:solidFill>
                  <a:srgbClr val="A8BBCC"/>
                </a:solidFill>
                <a:latin typeface="Calibri" pitchFamily="34" charset="0"/>
                <a:ea typeface="Calibri" pitchFamily="34" charset="-122"/>
                <a:cs typeface="Calibri" pitchFamily="34" charset="-120"/>
              </a:rPr>
              <a:t>Financial institutions operating on monolithic, on-premise architectures face mounting pressures as digital banking demands accelerate exponentially.</a:t>
            </a:r>
            <a:endParaRPr lang="en-US" sz="1300" dirty="0"/>
          </a:p>
        </p:txBody>
      </p:sp>
      <p:sp>
        <p:nvSpPr>
          <p:cNvPr id="10" name="Shape 8"/>
          <p:cNvSpPr/>
          <p:nvPr/>
        </p:nvSpPr>
        <p:spPr>
          <a:xfrm>
            <a:off x="457200" y="2468880"/>
            <a:ext cx="5212080" cy="1051560"/>
          </a:xfrm>
          <a:prstGeom prst="roundRect">
            <a:avLst>
              <a:gd name="adj" fmla="val 10435"/>
            </a:avLst>
          </a:prstGeom>
          <a:solidFill>
            <a:srgbClr val="112347"/>
          </a:solidFill>
          <a:ln w="12700">
            <a:solidFill>
              <a:srgbClr val="1A3A5C"/>
            </a:solidFill>
            <a:prstDash val="solid"/>
          </a:ln>
          <a:effectLst>
            <a:outerShdw sx="100000" sy="100000" kx="0" ky="0" algn="bl" rotWithShape="0" blurRad="76200" dist="25400" dir="2700000">
              <a:srgbClr val="000000">
                <a:alpha val="18000"/>
              </a:srgbClr>
            </a:outerShdw>
          </a:effectLst>
        </p:spPr>
      </p:sp>
      <p:pic>
        <p:nvPicPr>
          <p:cNvPr id="11" name="Image 0" descr="preencoded.png">    </p:cNvPr>
          <p:cNvPicPr>
            <a:picLocks noChangeAspect="1"/>
          </p:cNvPicPr>
          <p:nvPr/>
        </p:nvPicPr>
        <p:blipFill>
          <a:blip r:embed="rId1"/>
          <a:stretch>
            <a:fillRect/>
          </a:stretch>
        </p:blipFill>
        <p:spPr>
          <a:xfrm>
            <a:off x="685800" y="2743200"/>
            <a:ext cx="411480" cy="411480"/>
          </a:xfrm>
          <a:prstGeom prst="rect">
            <a:avLst/>
          </a:prstGeom>
        </p:spPr>
      </p:pic>
      <p:sp>
        <p:nvSpPr>
          <p:cNvPr id="12" name="Text 9"/>
          <p:cNvSpPr/>
          <p:nvPr/>
        </p:nvSpPr>
        <p:spPr>
          <a:xfrm>
            <a:off x="1280160" y="2560320"/>
            <a:ext cx="4206240" cy="34747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Scalability Bottlenecks</a:t>
            </a:r>
            <a:endParaRPr lang="en-US" sz="1400" dirty="0"/>
          </a:p>
        </p:txBody>
      </p:sp>
      <p:sp>
        <p:nvSpPr>
          <p:cNvPr id="13" name="Text 10"/>
          <p:cNvSpPr/>
          <p:nvPr/>
        </p:nvSpPr>
        <p:spPr>
          <a:xfrm>
            <a:off x="1280160" y="2907792"/>
            <a:ext cx="4206240" cy="502920"/>
          </a:xfrm>
          <a:prstGeom prst="rect">
            <a:avLst/>
          </a:prstGeom>
          <a:noFill/>
          <a:ln/>
        </p:spPr>
        <p:txBody>
          <a:bodyPr wrap="square" lIns="0" tIns="0" rIns="0" bIns="0" rtlCol="0" anchor="ctr"/>
          <a:lstStyle/>
          <a:p>
            <a:pPr indent="0" marL="0">
              <a:buNone/>
            </a:pPr>
            <a:r>
              <a:rPr lang="en-US" sz="1100" dirty="0">
                <a:solidFill>
                  <a:srgbClr val="A8BBCC"/>
                </a:solidFill>
                <a:latin typeface="Calibri" pitchFamily="34" charset="0"/>
                <a:ea typeface="Calibri" pitchFamily="34" charset="-122"/>
                <a:cs typeface="Calibri" pitchFamily="34" charset="-120"/>
              </a:rPr>
              <a:t>Monolithic apps cannot scale individual services. A surge in transactions freezes the entire platform.</a:t>
            </a:r>
            <a:endParaRPr lang="en-US" sz="1100" dirty="0"/>
          </a:p>
        </p:txBody>
      </p:sp>
      <p:sp>
        <p:nvSpPr>
          <p:cNvPr id="14" name="Shape 11"/>
          <p:cNvSpPr/>
          <p:nvPr/>
        </p:nvSpPr>
        <p:spPr>
          <a:xfrm>
            <a:off x="457200" y="3657600"/>
            <a:ext cx="5212080" cy="1051560"/>
          </a:xfrm>
          <a:prstGeom prst="roundRect">
            <a:avLst>
              <a:gd name="adj" fmla="val 10435"/>
            </a:avLst>
          </a:prstGeom>
          <a:solidFill>
            <a:srgbClr val="112347"/>
          </a:solidFill>
          <a:ln w="12700">
            <a:solidFill>
              <a:srgbClr val="1A3A5C"/>
            </a:solidFill>
            <a:prstDash val="solid"/>
          </a:ln>
          <a:effectLst>
            <a:outerShdw sx="100000" sy="100000" kx="0" ky="0" algn="bl" rotWithShape="0" blurRad="76200" dist="25400" dir="2700000">
              <a:srgbClr val="000000">
                <a:alpha val="18000"/>
              </a:srgbClr>
            </a:outerShdw>
          </a:effectLst>
        </p:spPr>
      </p:sp>
      <p:pic>
        <p:nvPicPr>
          <p:cNvPr id="15" name="Image 1" descr="preencoded.png">    </p:cNvPr>
          <p:cNvPicPr>
            <a:picLocks noChangeAspect="1"/>
          </p:cNvPicPr>
          <p:nvPr/>
        </p:nvPicPr>
        <p:blipFill>
          <a:blip r:embed="rId2"/>
          <a:stretch>
            <a:fillRect/>
          </a:stretch>
        </p:blipFill>
        <p:spPr>
          <a:xfrm>
            <a:off x="685800" y="3931920"/>
            <a:ext cx="411480" cy="411480"/>
          </a:xfrm>
          <a:prstGeom prst="rect">
            <a:avLst/>
          </a:prstGeom>
        </p:spPr>
      </p:pic>
      <p:sp>
        <p:nvSpPr>
          <p:cNvPr id="16" name="Text 12"/>
          <p:cNvSpPr/>
          <p:nvPr/>
        </p:nvSpPr>
        <p:spPr>
          <a:xfrm>
            <a:off x="1280160" y="3749040"/>
            <a:ext cx="4206240" cy="34747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Slow Release Cycles</a:t>
            </a:r>
            <a:endParaRPr lang="en-US" sz="1400" dirty="0"/>
          </a:p>
        </p:txBody>
      </p:sp>
      <p:sp>
        <p:nvSpPr>
          <p:cNvPr id="17" name="Text 13"/>
          <p:cNvSpPr/>
          <p:nvPr/>
        </p:nvSpPr>
        <p:spPr>
          <a:xfrm>
            <a:off x="1280160" y="4096512"/>
            <a:ext cx="4206240" cy="502920"/>
          </a:xfrm>
          <a:prstGeom prst="rect">
            <a:avLst/>
          </a:prstGeom>
          <a:noFill/>
          <a:ln/>
        </p:spPr>
        <p:txBody>
          <a:bodyPr wrap="square" lIns="0" tIns="0" rIns="0" bIns="0" rtlCol="0" anchor="ctr"/>
          <a:lstStyle/>
          <a:p>
            <a:pPr indent="0" marL="0">
              <a:buNone/>
            </a:pPr>
            <a:r>
              <a:rPr lang="en-US" sz="1100" dirty="0">
                <a:solidFill>
                  <a:srgbClr val="A8BBCC"/>
                </a:solidFill>
                <a:latin typeface="Calibri" pitchFamily="34" charset="0"/>
                <a:ea typeface="Calibri" pitchFamily="34" charset="-122"/>
                <a:cs typeface="Calibri" pitchFamily="34" charset="-120"/>
              </a:rPr>
              <a:t>Manual deployments take weeks. Competitors ship features in hours using modern DevOps.</a:t>
            </a:r>
            <a:endParaRPr lang="en-US" sz="1100" dirty="0"/>
          </a:p>
        </p:txBody>
      </p:sp>
      <p:sp>
        <p:nvSpPr>
          <p:cNvPr id="18" name="Shape 14"/>
          <p:cNvSpPr/>
          <p:nvPr/>
        </p:nvSpPr>
        <p:spPr>
          <a:xfrm>
            <a:off x="457200" y="4846320"/>
            <a:ext cx="5212080" cy="1051560"/>
          </a:xfrm>
          <a:prstGeom prst="roundRect">
            <a:avLst>
              <a:gd name="adj" fmla="val 10435"/>
            </a:avLst>
          </a:prstGeom>
          <a:solidFill>
            <a:srgbClr val="112347"/>
          </a:solidFill>
          <a:ln w="12700">
            <a:solidFill>
              <a:srgbClr val="1A3A5C"/>
            </a:solidFill>
            <a:prstDash val="solid"/>
          </a:ln>
          <a:effectLst>
            <a:outerShdw sx="100000" sy="100000" kx="0" ky="0" algn="bl" rotWithShape="0" blurRad="76200" dist="25400" dir="2700000">
              <a:srgbClr val="000000">
                <a:alpha val="18000"/>
              </a:srgbClr>
            </a:outerShdw>
          </a:effectLst>
        </p:spPr>
      </p:sp>
      <p:pic>
        <p:nvPicPr>
          <p:cNvPr id="19" name="Image 2" descr="preencoded.png">    </p:cNvPr>
          <p:cNvPicPr>
            <a:picLocks noChangeAspect="1"/>
          </p:cNvPicPr>
          <p:nvPr/>
        </p:nvPicPr>
        <p:blipFill>
          <a:blip r:embed="rId3"/>
          <a:stretch>
            <a:fillRect/>
          </a:stretch>
        </p:blipFill>
        <p:spPr>
          <a:xfrm>
            <a:off x="685800" y="5120640"/>
            <a:ext cx="411480" cy="411480"/>
          </a:xfrm>
          <a:prstGeom prst="rect">
            <a:avLst/>
          </a:prstGeom>
        </p:spPr>
      </p:pic>
      <p:sp>
        <p:nvSpPr>
          <p:cNvPr id="20" name="Text 15"/>
          <p:cNvSpPr/>
          <p:nvPr/>
        </p:nvSpPr>
        <p:spPr>
          <a:xfrm>
            <a:off x="1280160" y="4937760"/>
            <a:ext cx="4206240" cy="34747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Security Vulnerabilities</a:t>
            </a:r>
            <a:endParaRPr lang="en-US" sz="1400" dirty="0"/>
          </a:p>
        </p:txBody>
      </p:sp>
      <p:sp>
        <p:nvSpPr>
          <p:cNvPr id="21" name="Text 16"/>
          <p:cNvSpPr/>
          <p:nvPr/>
        </p:nvSpPr>
        <p:spPr>
          <a:xfrm>
            <a:off x="1280160" y="5285232"/>
            <a:ext cx="4206240" cy="502920"/>
          </a:xfrm>
          <a:prstGeom prst="rect">
            <a:avLst/>
          </a:prstGeom>
          <a:noFill/>
          <a:ln/>
        </p:spPr>
        <p:txBody>
          <a:bodyPr wrap="square" lIns="0" tIns="0" rIns="0" bIns="0" rtlCol="0" anchor="ctr"/>
          <a:lstStyle/>
          <a:p>
            <a:pPr indent="0" marL="0">
              <a:buNone/>
            </a:pPr>
            <a:r>
              <a:rPr lang="en-US" sz="1100" dirty="0">
                <a:solidFill>
                  <a:srgbClr val="A8BBCC"/>
                </a:solidFill>
                <a:latin typeface="Calibri" pitchFamily="34" charset="0"/>
                <a:ea typeface="Calibri" pitchFamily="34" charset="-122"/>
                <a:cs typeface="Calibri" pitchFamily="34" charset="-120"/>
              </a:rPr>
              <a:t>Hardcoded credentials, flat networks, and no secrets management expose critical data.</a:t>
            </a:r>
            <a:endParaRPr lang="en-US" sz="1100" dirty="0"/>
          </a:p>
        </p:txBody>
      </p:sp>
      <p:sp>
        <p:nvSpPr>
          <p:cNvPr id="22" name="Shape 17"/>
          <p:cNvSpPr/>
          <p:nvPr/>
        </p:nvSpPr>
        <p:spPr>
          <a:xfrm>
            <a:off x="6400800" y="914400"/>
            <a:ext cx="5303520" cy="1554480"/>
          </a:xfrm>
          <a:prstGeom prst="roundRect">
            <a:avLst>
              <a:gd name="adj" fmla="val 8824"/>
            </a:avLst>
          </a:prstGeom>
          <a:solidFill>
            <a:srgbClr val="0D2040"/>
          </a:solidFill>
          <a:ln w="12700">
            <a:solidFill>
              <a:srgbClr val="0089C8"/>
            </a:solidFill>
            <a:prstDash val="solid"/>
          </a:ln>
          <a:effectLst>
            <a:outerShdw sx="100000" sy="100000" kx="0" ky="0" algn="bl" rotWithShape="0" blurRad="76200" dist="25400" dir="2700000">
              <a:srgbClr val="000000">
                <a:alpha val="18000"/>
              </a:srgbClr>
            </a:outerShdw>
          </a:effectLst>
        </p:spPr>
      </p:sp>
      <p:sp>
        <p:nvSpPr>
          <p:cNvPr id="23" name="Text 18"/>
          <p:cNvSpPr/>
          <p:nvPr/>
        </p:nvSpPr>
        <p:spPr>
          <a:xfrm>
            <a:off x="6583680" y="1051560"/>
            <a:ext cx="4937760" cy="685800"/>
          </a:xfrm>
          <a:prstGeom prst="rect">
            <a:avLst/>
          </a:prstGeom>
          <a:noFill/>
          <a:ln/>
        </p:spPr>
        <p:txBody>
          <a:bodyPr wrap="square" lIns="0" tIns="0" rIns="0" bIns="0" rtlCol="0" anchor="ctr"/>
          <a:lstStyle/>
          <a:p>
            <a:pPr algn="ctr" indent="0" marL="0">
              <a:buNone/>
            </a:pPr>
            <a:r>
              <a:rPr lang="en-US" sz="4000" b="1" dirty="0">
                <a:solidFill>
                  <a:srgbClr val="00C8FF"/>
                </a:solidFill>
                <a:latin typeface="Cambria" pitchFamily="34" charset="0"/>
                <a:ea typeface="Cambria" pitchFamily="34" charset="-122"/>
                <a:cs typeface="Cambria" pitchFamily="34" charset="-120"/>
              </a:rPr>
              <a:t>3-6 Weeks</a:t>
            </a:r>
            <a:endParaRPr lang="en-US" sz="4000" dirty="0"/>
          </a:p>
        </p:txBody>
      </p:sp>
      <p:sp>
        <p:nvSpPr>
          <p:cNvPr id="24" name="Text 19"/>
          <p:cNvSpPr/>
          <p:nvPr/>
        </p:nvSpPr>
        <p:spPr>
          <a:xfrm>
            <a:off x="6583680" y="1691640"/>
            <a:ext cx="4937760" cy="36576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Average monolith deployment cycle</a:t>
            </a:r>
            <a:endParaRPr lang="en-US" sz="1200" dirty="0"/>
          </a:p>
        </p:txBody>
      </p:sp>
      <p:sp>
        <p:nvSpPr>
          <p:cNvPr id="25" name="Text 20"/>
          <p:cNvSpPr/>
          <p:nvPr/>
        </p:nvSpPr>
        <p:spPr>
          <a:xfrm>
            <a:off x="6583680" y="2029968"/>
            <a:ext cx="4937760" cy="274320"/>
          </a:xfrm>
          <a:prstGeom prst="rect">
            <a:avLst/>
          </a:prstGeom>
          <a:noFill/>
          <a:ln/>
        </p:spPr>
        <p:txBody>
          <a:bodyPr wrap="square" lIns="0" tIns="0" rIns="0" bIns="0" rtlCol="0" anchor="ctr"/>
          <a:lstStyle/>
          <a:p>
            <a:pPr algn="ctr" indent="0" marL="0">
              <a:buNone/>
            </a:pPr>
            <a:r>
              <a:rPr lang="en-US" sz="1000" i="1" dirty="0">
                <a:solidFill>
                  <a:srgbClr val="5A7A9A"/>
                </a:solidFill>
                <a:latin typeface="Calibri" pitchFamily="34" charset="0"/>
                <a:ea typeface="Calibri" pitchFamily="34" charset="-122"/>
                <a:cs typeface="Calibri" pitchFamily="34" charset="-120"/>
              </a:rPr>
              <a:t>vs hours with modern CI/CD</a:t>
            </a:r>
            <a:endParaRPr lang="en-US" sz="1000" dirty="0"/>
          </a:p>
        </p:txBody>
      </p:sp>
      <p:sp>
        <p:nvSpPr>
          <p:cNvPr id="26" name="Shape 21"/>
          <p:cNvSpPr/>
          <p:nvPr/>
        </p:nvSpPr>
        <p:spPr>
          <a:xfrm>
            <a:off x="6400800" y="2788920"/>
            <a:ext cx="5303520" cy="1554480"/>
          </a:xfrm>
          <a:prstGeom prst="roundRect">
            <a:avLst>
              <a:gd name="adj" fmla="val 8824"/>
            </a:avLst>
          </a:prstGeom>
          <a:solidFill>
            <a:srgbClr val="0D2040"/>
          </a:solidFill>
          <a:ln w="12700">
            <a:solidFill>
              <a:srgbClr val="0089C8"/>
            </a:solidFill>
            <a:prstDash val="solid"/>
          </a:ln>
          <a:effectLst>
            <a:outerShdw sx="100000" sy="100000" kx="0" ky="0" algn="bl" rotWithShape="0" blurRad="76200" dist="25400" dir="2700000">
              <a:srgbClr val="000000">
                <a:alpha val="18000"/>
              </a:srgbClr>
            </a:outerShdw>
          </a:effectLst>
        </p:spPr>
      </p:sp>
      <p:sp>
        <p:nvSpPr>
          <p:cNvPr id="27" name="Text 22"/>
          <p:cNvSpPr/>
          <p:nvPr/>
        </p:nvSpPr>
        <p:spPr>
          <a:xfrm>
            <a:off x="6583680" y="2926080"/>
            <a:ext cx="4937760" cy="685800"/>
          </a:xfrm>
          <a:prstGeom prst="rect">
            <a:avLst/>
          </a:prstGeom>
          <a:noFill/>
          <a:ln/>
        </p:spPr>
        <p:txBody>
          <a:bodyPr wrap="square" lIns="0" tIns="0" rIns="0" bIns="0" rtlCol="0" anchor="ctr"/>
          <a:lstStyle/>
          <a:p>
            <a:pPr algn="ctr" indent="0" marL="0">
              <a:buNone/>
            </a:pPr>
            <a:r>
              <a:rPr lang="en-US" sz="4000" b="1" dirty="0">
                <a:solidFill>
                  <a:srgbClr val="00C8FF"/>
                </a:solidFill>
                <a:latin typeface="Cambria" pitchFamily="34" charset="0"/>
                <a:ea typeface="Cambria" pitchFamily="34" charset="-122"/>
                <a:cs typeface="Cambria" pitchFamily="34" charset="-120"/>
              </a:rPr>
              <a:t>68%</a:t>
            </a:r>
            <a:endParaRPr lang="en-US" sz="4000" dirty="0"/>
          </a:p>
        </p:txBody>
      </p:sp>
      <p:sp>
        <p:nvSpPr>
          <p:cNvPr id="28" name="Text 23"/>
          <p:cNvSpPr/>
          <p:nvPr/>
        </p:nvSpPr>
        <p:spPr>
          <a:xfrm>
            <a:off x="6583680" y="3566160"/>
            <a:ext cx="4937760" cy="36576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Of banks cite tech debt as top barrier</a:t>
            </a:r>
            <a:endParaRPr lang="en-US" sz="1200" dirty="0"/>
          </a:p>
        </p:txBody>
      </p:sp>
      <p:sp>
        <p:nvSpPr>
          <p:cNvPr id="29" name="Text 24"/>
          <p:cNvSpPr/>
          <p:nvPr/>
        </p:nvSpPr>
        <p:spPr>
          <a:xfrm>
            <a:off x="6583680" y="3904488"/>
            <a:ext cx="4937760" cy="274320"/>
          </a:xfrm>
          <a:prstGeom prst="rect">
            <a:avLst/>
          </a:prstGeom>
          <a:noFill/>
          <a:ln/>
        </p:spPr>
        <p:txBody>
          <a:bodyPr wrap="square" lIns="0" tIns="0" rIns="0" bIns="0" rtlCol="0" anchor="ctr"/>
          <a:lstStyle/>
          <a:p>
            <a:pPr algn="ctr" indent="0" marL="0">
              <a:buNone/>
            </a:pPr>
            <a:r>
              <a:rPr lang="en-US" sz="1000" i="1" dirty="0">
                <a:solidFill>
                  <a:srgbClr val="5A7A9A"/>
                </a:solidFill>
                <a:latin typeface="Calibri" pitchFamily="34" charset="0"/>
                <a:ea typeface="Calibri" pitchFamily="34" charset="-122"/>
                <a:cs typeface="Calibri" pitchFamily="34" charset="-120"/>
              </a:rPr>
              <a:t>to digital transformation</a:t>
            </a:r>
            <a:endParaRPr lang="en-US" sz="1000" dirty="0"/>
          </a:p>
        </p:txBody>
      </p:sp>
      <p:sp>
        <p:nvSpPr>
          <p:cNvPr id="30" name="Shape 25"/>
          <p:cNvSpPr/>
          <p:nvPr/>
        </p:nvSpPr>
        <p:spPr>
          <a:xfrm>
            <a:off x="6400800" y="4663440"/>
            <a:ext cx="5303520" cy="1554480"/>
          </a:xfrm>
          <a:prstGeom prst="roundRect">
            <a:avLst>
              <a:gd name="adj" fmla="val 8824"/>
            </a:avLst>
          </a:prstGeom>
          <a:solidFill>
            <a:srgbClr val="0D2040"/>
          </a:solidFill>
          <a:ln w="12700">
            <a:solidFill>
              <a:srgbClr val="0089C8"/>
            </a:solidFill>
            <a:prstDash val="solid"/>
          </a:ln>
          <a:effectLst>
            <a:outerShdw sx="100000" sy="100000" kx="0" ky="0" algn="bl" rotWithShape="0" blurRad="76200" dist="25400" dir="2700000">
              <a:srgbClr val="000000">
                <a:alpha val="18000"/>
              </a:srgbClr>
            </a:outerShdw>
          </a:effectLst>
        </p:spPr>
      </p:sp>
      <p:sp>
        <p:nvSpPr>
          <p:cNvPr id="31" name="Text 26"/>
          <p:cNvSpPr/>
          <p:nvPr/>
        </p:nvSpPr>
        <p:spPr>
          <a:xfrm>
            <a:off x="6583680" y="4800600"/>
            <a:ext cx="4937760" cy="685800"/>
          </a:xfrm>
          <a:prstGeom prst="rect">
            <a:avLst/>
          </a:prstGeom>
          <a:noFill/>
          <a:ln/>
        </p:spPr>
        <p:txBody>
          <a:bodyPr wrap="square" lIns="0" tIns="0" rIns="0" bIns="0" rtlCol="0" anchor="ctr"/>
          <a:lstStyle/>
          <a:p>
            <a:pPr algn="ctr" indent="0" marL="0">
              <a:buNone/>
            </a:pPr>
            <a:r>
              <a:rPr lang="en-US" sz="4000" b="1" dirty="0">
                <a:solidFill>
                  <a:srgbClr val="00C8FF"/>
                </a:solidFill>
                <a:latin typeface="Cambria" pitchFamily="34" charset="0"/>
                <a:ea typeface="Cambria" pitchFamily="34" charset="-122"/>
                <a:cs typeface="Cambria" pitchFamily="34" charset="-120"/>
              </a:rPr>
              <a:t>$5.9B</a:t>
            </a:r>
            <a:endParaRPr lang="en-US" sz="4000" dirty="0"/>
          </a:p>
        </p:txBody>
      </p:sp>
      <p:sp>
        <p:nvSpPr>
          <p:cNvPr id="32" name="Text 27"/>
          <p:cNvSpPr/>
          <p:nvPr/>
        </p:nvSpPr>
        <p:spPr>
          <a:xfrm>
            <a:off x="6583680" y="5440680"/>
            <a:ext cx="4937760" cy="36576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Average cost of a banking data breach</a:t>
            </a:r>
            <a:endParaRPr lang="en-US" sz="1200" dirty="0"/>
          </a:p>
        </p:txBody>
      </p:sp>
      <p:sp>
        <p:nvSpPr>
          <p:cNvPr id="33" name="Text 28"/>
          <p:cNvSpPr/>
          <p:nvPr/>
        </p:nvSpPr>
        <p:spPr>
          <a:xfrm>
            <a:off x="6583680" y="5779008"/>
            <a:ext cx="4937760" cy="274320"/>
          </a:xfrm>
          <a:prstGeom prst="rect">
            <a:avLst/>
          </a:prstGeom>
          <a:noFill/>
          <a:ln/>
        </p:spPr>
        <p:txBody>
          <a:bodyPr wrap="square" lIns="0" tIns="0" rIns="0" bIns="0" rtlCol="0" anchor="ctr"/>
          <a:lstStyle/>
          <a:p>
            <a:pPr algn="ctr" indent="0" marL="0">
              <a:buNone/>
            </a:pPr>
            <a:r>
              <a:rPr lang="en-US" sz="1000" i="1" dirty="0">
                <a:solidFill>
                  <a:srgbClr val="5A7A9A"/>
                </a:solidFill>
                <a:latin typeface="Calibri" pitchFamily="34" charset="0"/>
                <a:ea typeface="Calibri" pitchFamily="34" charset="-122"/>
                <a:cs typeface="Calibri" pitchFamily="34" charset="-120"/>
              </a:rPr>
              <a:t>IBM Security Report 2023</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2040"/>
          </a:solidFill>
          <a:ln w="12700">
            <a:solidFill>
              <a:srgbClr val="0D2040"/>
            </a:solidFill>
            <a:prstDash val="solid"/>
          </a:ln>
        </p:spPr>
      </p:sp>
      <p:sp>
        <p:nvSpPr>
          <p:cNvPr id="3" name="Shape 1"/>
          <p:cNvSpPr/>
          <p:nvPr/>
        </p:nvSpPr>
        <p:spPr>
          <a:xfrm>
            <a:off x="228600" y="137160"/>
            <a:ext cx="384048" cy="384048"/>
          </a:xfrm>
          <a:prstGeom prst="ellipse">
            <a:avLst/>
          </a:prstGeom>
          <a:solidFill>
            <a:srgbClr val="00C8FF">
              <a:alpha val="80000"/>
            </a:srgbClr>
          </a:solidFill>
          <a:ln w="12700">
            <a:solidFill>
              <a:srgbClr val="00C8FF"/>
            </a:solidFill>
            <a:prstDash val="solid"/>
          </a:ln>
        </p:spPr>
      </p:sp>
      <p:sp>
        <p:nvSpPr>
          <p:cNvPr id="4" name="Shape 2"/>
          <p:cNvSpPr/>
          <p:nvPr/>
        </p:nvSpPr>
        <p:spPr>
          <a:xfrm>
            <a:off x="502920" y="256032"/>
            <a:ext cx="164592" cy="164592"/>
          </a:xfrm>
          <a:prstGeom prst="ellipse">
            <a:avLst/>
          </a:prstGeom>
          <a:solidFill>
            <a:srgbClr val="00C8FF">
              <a:alpha val="60000"/>
            </a:srgbClr>
          </a:solidFill>
          <a:ln w="12700">
            <a:solidFill>
              <a:srgbClr val="00C8FF"/>
            </a:solidFill>
            <a:prstDash val="solid"/>
          </a:ln>
        </p:spPr>
      </p:sp>
      <p:sp>
        <p:nvSpPr>
          <p:cNvPr id="5" name="Text 3"/>
          <p:cNvSpPr/>
          <p:nvPr/>
        </p:nvSpPr>
        <p:spPr>
          <a:xfrm>
            <a:off x="777240" y="73152"/>
            <a:ext cx="6858000" cy="50292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The NexaBank Solution</a:t>
            </a:r>
            <a:endParaRPr lang="en-US" sz="2200" dirty="0"/>
          </a:p>
        </p:txBody>
      </p:sp>
      <p:sp>
        <p:nvSpPr>
          <p:cNvPr id="6" name="Text 4"/>
          <p:cNvSpPr/>
          <p:nvPr/>
        </p:nvSpPr>
        <p:spPr>
          <a:xfrm>
            <a:off x="777240" y="73152"/>
            <a:ext cx="6858000" cy="502920"/>
          </a:xfrm>
          <a:prstGeom prst="rect">
            <a:avLst/>
          </a:prstGeom>
          <a:noFill/>
          <a:ln/>
        </p:spPr>
        <p:txBody>
          <a:bodyPr wrap="square" lIns="0" tIns="0" rIns="0" bIns="0" rtlCol="0" anchor="ctr"/>
          <a:lstStyle/>
          <a:p>
            <a:pPr algn="r" indent="0" marL="0">
              <a:buNone/>
            </a:pPr>
            <a:r>
              <a:rPr lang="en-US" sz="1300" dirty="0">
                <a:solidFill>
                  <a:srgbClr val="00C8FF"/>
                </a:solidFill>
                <a:latin typeface="Calibri" pitchFamily="34" charset="0"/>
                <a:ea typeface="Calibri" pitchFamily="34" charset="-122"/>
                <a:cs typeface="Calibri" pitchFamily="34" charset="-120"/>
              </a:rPr>
              <a:t>Azure-Native Microservices Platform</a:t>
            </a:r>
            <a:endParaRPr lang="en-US" sz="1300" dirty="0"/>
          </a:p>
        </p:txBody>
      </p:sp>
      <p:sp>
        <p:nvSpPr>
          <p:cNvPr id="7" name="Shape 5"/>
          <p:cNvSpPr/>
          <p:nvPr/>
        </p:nvSpPr>
        <p:spPr>
          <a:xfrm>
            <a:off x="8412480" y="109728"/>
            <a:ext cx="548640" cy="438912"/>
          </a:xfrm>
          <a:prstGeom prst="roundRect">
            <a:avLst>
              <a:gd name="adj" fmla="val 16667"/>
            </a:avLst>
          </a:prstGeom>
          <a:solidFill>
            <a:srgbClr val="00C8FF"/>
          </a:solidFill>
          <a:ln w="12700">
            <a:solidFill>
              <a:srgbClr val="00C8FF"/>
            </a:solidFill>
            <a:prstDash val="solid"/>
          </a:ln>
        </p:spPr>
      </p:sp>
      <p:sp>
        <p:nvSpPr>
          <p:cNvPr id="8" name="Text 6"/>
          <p:cNvSpPr/>
          <p:nvPr/>
        </p:nvSpPr>
        <p:spPr>
          <a:xfrm>
            <a:off x="457200" y="804672"/>
            <a:ext cx="1124712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 Paradigm Shift to Cloud-Native Architecture</a:t>
            </a:r>
            <a:endParaRPr lang="en-US" sz="2200" dirty="0"/>
          </a:p>
        </p:txBody>
      </p:sp>
      <p:sp>
        <p:nvSpPr>
          <p:cNvPr id="9" name="Shape 7"/>
          <p:cNvSpPr/>
          <p:nvPr/>
        </p:nvSpPr>
        <p:spPr>
          <a:xfrm>
            <a:off x="457200" y="1508760"/>
            <a:ext cx="3474720" cy="4114800"/>
          </a:xfrm>
          <a:prstGeom prst="roundRect">
            <a:avLst>
              <a:gd name="adj" fmla="val 3947"/>
            </a:avLst>
          </a:prstGeom>
          <a:solidFill>
            <a:srgbClr val="112347"/>
          </a:solidFill>
          <a:ln w="12700">
            <a:solidFill>
              <a:srgbClr val="8B5CF6"/>
            </a:solidFill>
            <a:prstDash val="solid"/>
          </a:ln>
        </p:spPr>
      </p:sp>
      <p:sp>
        <p:nvSpPr>
          <p:cNvPr id="10" name="Text 8"/>
          <p:cNvSpPr/>
          <p:nvPr/>
        </p:nvSpPr>
        <p:spPr>
          <a:xfrm>
            <a:off x="457200" y="1508760"/>
            <a:ext cx="3474720" cy="438912"/>
          </a:xfrm>
          <a:prstGeom prst="rect">
            <a:avLst/>
          </a:prstGeom>
          <a:noFill/>
          <a:ln/>
        </p:spPr>
        <p:txBody>
          <a:bodyPr wrap="square" lIns="0" tIns="0" rIns="0" bIns="0" rtlCol="0" anchor="ctr"/>
          <a:lstStyle/>
          <a:p>
            <a:pPr algn="ctr" indent="0" marL="0">
              <a:buNone/>
            </a:pPr>
            <a:r>
              <a:rPr lang="en-US" sz="1300" b="1" dirty="0">
                <a:solidFill>
                  <a:srgbClr val="8B5CF6"/>
                </a:solidFill>
                <a:latin typeface="Calibri" pitchFamily="34" charset="0"/>
                <a:ea typeface="Calibri" pitchFamily="34" charset="-122"/>
                <a:cs typeface="Calibri" pitchFamily="34" charset="-120"/>
              </a:rPr>
              <a:t>BEFORE</a:t>
            </a:r>
            <a:endParaRPr lang="en-US" sz="1300" dirty="0"/>
          </a:p>
        </p:txBody>
      </p:sp>
      <p:sp>
        <p:nvSpPr>
          <p:cNvPr id="11" name="Text 9"/>
          <p:cNvSpPr/>
          <p:nvPr/>
        </p:nvSpPr>
        <p:spPr>
          <a:xfrm>
            <a:off x="640080" y="2011680"/>
            <a:ext cx="3108960" cy="3383280"/>
          </a:xfrm>
          <a:prstGeom prst="rect">
            <a:avLst/>
          </a:prstGeom>
          <a:noFill/>
          <a:ln/>
        </p:spPr>
        <p:txBody>
          <a:bodyPr wrap="square" lIns="0" tIns="0" rIns="0" bIns="0" rtlCol="0" anchor="ctr"/>
          <a:lstStyle/>
          <a:p>
            <a:pPr marL="342900" indent="-342900">
              <a:buSzPct val="100000"/>
              <a:buChar char="•"/>
            </a:pPr>
            <a:r>
              <a:rPr lang="en-US" sz="1200" dirty="0">
                <a:solidFill>
                  <a:srgbClr val="A8BBCC"/>
                </a:solidFill>
                <a:latin typeface="Calibri" pitchFamily="34" charset="0"/>
                <a:ea typeface="Calibri" pitchFamily="34" charset="-122"/>
                <a:cs typeface="Calibri" pitchFamily="34" charset="-120"/>
              </a:rPr>
              <a:t>Monolithic application</a:t>
            </a:r>
            <a:endParaRPr lang="en-US" sz="1200" dirty="0"/>
          </a:p>
          <a:p>
            <a:pPr marL="342900" indent="-342900">
              <a:buSzPct val="100000"/>
              <a:buChar char="•"/>
            </a:pPr>
            <a:r>
              <a:rPr lang="en-US" sz="1200" dirty="0">
                <a:solidFill>
                  <a:srgbClr val="A8BBCC"/>
                </a:solidFill>
                <a:latin typeface="Calibri" pitchFamily="34" charset="0"/>
                <a:ea typeface="Calibri" pitchFamily="34" charset="-122"/>
                <a:cs typeface="Calibri" pitchFamily="34" charset="-120"/>
              </a:rPr>
              <a:t>Manual deployments</a:t>
            </a:r>
            <a:endParaRPr lang="en-US" sz="1200" dirty="0"/>
          </a:p>
          <a:p>
            <a:pPr marL="342900" indent="-342900">
              <a:buSzPct val="100000"/>
              <a:buChar char="•"/>
            </a:pPr>
            <a:r>
              <a:rPr lang="en-US" sz="1200" dirty="0">
                <a:solidFill>
                  <a:srgbClr val="A8BBCC"/>
                </a:solidFill>
                <a:latin typeface="Calibri" pitchFamily="34" charset="0"/>
                <a:ea typeface="Calibri" pitchFamily="34" charset="-122"/>
                <a:cs typeface="Calibri" pitchFamily="34" charset="-120"/>
              </a:rPr>
              <a:t>Hardcoded secrets</a:t>
            </a:r>
            <a:endParaRPr lang="en-US" sz="1200" dirty="0"/>
          </a:p>
          <a:p>
            <a:pPr marL="342900" indent="-342900">
              <a:buSzPct val="100000"/>
              <a:buChar char="•"/>
            </a:pPr>
            <a:r>
              <a:rPr lang="en-US" sz="1200" dirty="0">
                <a:solidFill>
                  <a:srgbClr val="A8BBCC"/>
                </a:solidFill>
                <a:latin typeface="Calibri" pitchFamily="34" charset="0"/>
                <a:ea typeface="Calibri" pitchFamily="34" charset="-122"/>
                <a:cs typeface="Calibri" pitchFamily="34" charset="-120"/>
              </a:rPr>
              <a:t>Flat network topology</a:t>
            </a:r>
            <a:endParaRPr lang="en-US" sz="1200" dirty="0"/>
          </a:p>
          <a:p>
            <a:pPr marL="342900" indent="-342900">
              <a:buSzPct val="100000"/>
              <a:buChar char="•"/>
            </a:pPr>
            <a:r>
              <a:rPr lang="en-US" sz="1200" dirty="0">
                <a:solidFill>
                  <a:srgbClr val="A8BBCC"/>
                </a:solidFill>
                <a:latin typeface="Calibri" pitchFamily="34" charset="0"/>
                <a:ea typeface="Calibri" pitchFamily="34" charset="-122"/>
                <a:cs typeface="Calibri" pitchFamily="34" charset="-120"/>
              </a:rPr>
              <a:t>No auto-scaling</a:t>
            </a:r>
            <a:endParaRPr lang="en-US" sz="1200" dirty="0"/>
          </a:p>
          <a:p>
            <a:pPr marL="342900" indent="-342900">
              <a:buSzPct val="100000"/>
              <a:buChar char="•"/>
            </a:pPr>
            <a:r>
              <a:rPr lang="en-US" sz="1200" dirty="0">
                <a:solidFill>
                  <a:srgbClr val="A8BBCC"/>
                </a:solidFill>
                <a:latin typeface="Calibri" pitchFamily="34" charset="0"/>
                <a:ea typeface="Calibri" pitchFamily="34" charset="-122"/>
                <a:cs typeface="Calibri" pitchFamily="34" charset="-120"/>
              </a:rPr>
              <a:t>Single point of failure</a:t>
            </a:r>
            <a:endParaRPr lang="en-US" sz="1200" dirty="0"/>
          </a:p>
          <a:p>
            <a:pPr marL="342900" indent="-342900">
              <a:buSzPct val="100000"/>
              <a:buChar char="•"/>
            </a:pPr>
            <a:r>
              <a:rPr lang="en-US" sz="1200" dirty="0">
                <a:solidFill>
                  <a:srgbClr val="A8BBCC"/>
                </a:solidFill>
                <a:latin typeface="Calibri" pitchFamily="34" charset="0"/>
                <a:ea typeface="Calibri" pitchFamily="34" charset="-122"/>
                <a:cs typeface="Calibri" pitchFamily="34" charset="-120"/>
              </a:rPr>
              <a:t>Weeks to release features</a:t>
            </a:r>
            <a:endParaRPr lang="en-US" sz="1200" dirty="0"/>
          </a:p>
        </p:txBody>
      </p:sp>
      <p:sp>
        <p:nvSpPr>
          <p:cNvPr id="12" name="Shape 10"/>
          <p:cNvSpPr/>
          <p:nvPr/>
        </p:nvSpPr>
        <p:spPr>
          <a:xfrm>
            <a:off x="4069080" y="3383280"/>
            <a:ext cx="1371600" cy="73152"/>
          </a:xfrm>
          <a:prstGeom prst="rect">
            <a:avLst/>
          </a:prstGeom>
          <a:solidFill>
            <a:srgbClr val="00C8FF"/>
          </a:solidFill>
          <a:ln w="12700">
            <a:solidFill>
              <a:srgbClr val="00C8FF"/>
            </a:solidFill>
            <a:prstDash val="solid"/>
          </a:ln>
        </p:spPr>
      </p:sp>
      <p:sp>
        <p:nvSpPr>
          <p:cNvPr id="13" name="Shape 11"/>
          <p:cNvSpPr/>
          <p:nvPr/>
        </p:nvSpPr>
        <p:spPr>
          <a:xfrm>
            <a:off x="5212080" y="3264408"/>
            <a:ext cx="274320" cy="274320"/>
          </a:xfrm>
          <a:prstGeom prst="ellipse">
            <a:avLst/>
          </a:prstGeom>
          <a:solidFill>
            <a:srgbClr val="00C8FF"/>
          </a:solidFill>
          <a:ln w="12700">
            <a:solidFill>
              <a:srgbClr val="00C8FF"/>
            </a:solidFill>
            <a:prstDash val="solid"/>
          </a:ln>
        </p:spPr>
      </p:sp>
      <p:sp>
        <p:nvSpPr>
          <p:cNvPr id="14" name="Text 12"/>
          <p:cNvSpPr/>
          <p:nvPr/>
        </p:nvSpPr>
        <p:spPr>
          <a:xfrm>
            <a:off x="3931920" y="3547872"/>
            <a:ext cx="1645920" cy="548640"/>
          </a:xfrm>
          <a:prstGeom prst="rect">
            <a:avLst/>
          </a:prstGeom>
          <a:noFill/>
          <a:ln/>
        </p:spPr>
        <p:txBody>
          <a:bodyPr wrap="square" lIns="0" tIns="0" rIns="0" bIns="0" rtlCol="0" anchor="ctr"/>
          <a:lstStyle/>
          <a:p>
            <a:pPr algn="ctr" indent="0" marL="0">
              <a:buNone/>
            </a:pPr>
            <a:r>
              <a:rPr lang="en-US" sz="900" i="1" dirty="0">
                <a:solidFill>
                  <a:srgbClr val="00C8FF"/>
                </a:solidFill>
                <a:latin typeface="Calibri" pitchFamily="34" charset="0"/>
                <a:ea typeface="Calibri" pitchFamily="34" charset="-122"/>
                <a:cs typeface="Calibri" pitchFamily="34" charset="-120"/>
              </a:rPr>
              <a:t>NexaBank</a:t>
            </a:r>
            <a:endParaRPr lang="en-US" sz="900" dirty="0"/>
          </a:p>
          <a:p>
            <a:pPr algn="ctr" indent="0" marL="0">
              <a:buNone/>
            </a:pPr>
            <a:r>
              <a:rPr lang="en-US" sz="900" i="1" dirty="0">
                <a:solidFill>
                  <a:srgbClr val="00C8FF"/>
                </a:solidFill>
                <a:latin typeface="Calibri" pitchFamily="34" charset="0"/>
                <a:ea typeface="Calibri" pitchFamily="34" charset="-122"/>
                <a:cs typeface="Calibri" pitchFamily="34" charset="-120"/>
              </a:rPr>
              <a:t>Transformation</a:t>
            </a:r>
            <a:endParaRPr lang="en-US" sz="900" dirty="0"/>
          </a:p>
        </p:txBody>
      </p:sp>
      <p:sp>
        <p:nvSpPr>
          <p:cNvPr id="15" name="Shape 13"/>
          <p:cNvSpPr/>
          <p:nvPr/>
        </p:nvSpPr>
        <p:spPr>
          <a:xfrm>
            <a:off x="5669280" y="1508760"/>
            <a:ext cx="6035040" cy="4114800"/>
          </a:xfrm>
          <a:prstGeom prst="roundRect">
            <a:avLst>
              <a:gd name="adj" fmla="val 3333"/>
            </a:avLst>
          </a:prstGeom>
          <a:solidFill>
            <a:srgbClr val="112347"/>
          </a:solidFill>
          <a:ln w="12700">
            <a:solidFill>
              <a:srgbClr val="00C8FF"/>
            </a:solidFill>
            <a:prstDash val="solid"/>
          </a:ln>
          <a:effectLst>
            <a:outerShdw sx="100000" sy="100000" kx="0" ky="0" algn="bl" rotWithShape="0" blurRad="127000" dist="38100" dir="2700000">
              <a:srgbClr val="000000">
                <a:alpha val="25000"/>
              </a:srgbClr>
            </a:outerShdw>
          </a:effectLst>
        </p:spPr>
      </p:sp>
      <p:sp>
        <p:nvSpPr>
          <p:cNvPr id="16" name="Text 14"/>
          <p:cNvSpPr/>
          <p:nvPr/>
        </p:nvSpPr>
        <p:spPr>
          <a:xfrm>
            <a:off x="5669280" y="1508760"/>
            <a:ext cx="6035040" cy="438912"/>
          </a:xfrm>
          <a:prstGeom prst="rect">
            <a:avLst/>
          </a:prstGeom>
          <a:noFill/>
          <a:ln/>
        </p:spPr>
        <p:txBody>
          <a:bodyPr wrap="square" lIns="0" tIns="0" rIns="0" bIns="0" rtlCol="0" anchor="ctr"/>
          <a:lstStyle/>
          <a:p>
            <a:pPr algn="ctr" indent="0" marL="0">
              <a:buNone/>
            </a:pPr>
            <a:r>
              <a:rPr lang="en-US" sz="1300" b="1" dirty="0">
                <a:solidFill>
                  <a:srgbClr val="00C8FF"/>
                </a:solidFill>
                <a:latin typeface="Calibri" pitchFamily="34" charset="0"/>
                <a:ea typeface="Calibri" pitchFamily="34" charset="-122"/>
                <a:cs typeface="Calibri" pitchFamily="34" charset="-120"/>
              </a:rPr>
              <a:t>AFTER  —  NexaBank on Azure</a:t>
            </a:r>
            <a:endParaRPr lang="en-US" sz="1300" dirty="0"/>
          </a:p>
        </p:txBody>
      </p:sp>
      <p:pic>
        <p:nvPicPr>
          <p:cNvPr id="17" name="Image 0" descr="preencoded.png">    </p:cNvPr>
          <p:cNvPicPr>
            <a:picLocks noChangeAspect="1"/>
          </p:cNvPicPr>
          <p:nvPr/>
        </p:nvPicPr>
        <p:blipFill>
          <a:blip r:embed="rId1"/>
          <a:stretch>
            <a:fillRect/>
          </a:stretch>
        </p:blipFill>
        <p:spPr>
          <a:xfrm>
            <a:off x="5897880" y="2075688"/>
            <a:ext cx="274320" cy="274320"/>
          </a:xfrm>
          <a:prstGeom prst="rect">
            <a:avLst/>
          </a:prstGeom>
        </p:spPr>
      </p:pic>
      <p:sp>
        <p:nvSpPr>
          <p:cNvPr id="18" name="Text 15"/>
          <p:cNvSpPr/>
          <p:nvPr/>
        </p:nvSpPr>
        <p:spPr>
          <a:xfrm>
            <a:off x="6263640" y="2057400"/>
            <a:ext cx="5212080" cy="38404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Independent microservices — scale only what you need</a:t>
            </a:r>
            <a:endParaRPr lang="en-US" sz="1200" dirty="0"/>
          </a:p>
        </p:txBody>
      </p:sp>
      <p:pic>
        <p:nvPicPr>
          <p:cNvPr id="19" name="Image 1" descr="preencoded.png">    </p:cNvPr>
          <p:cNvPicPr>
            <a:picLocks noChangeAspect="1"/>
          </p:cNvPicPr>
          <p:nvPr/>
        </p:nvPicPr>
        <p:blipFill>
          <a:blip r:embed="rId2"/>
          <a:stretch>
            <a:fillRect/>
          </a:stretch>
        </p:blipFill>
        <p:spPr>
          <a:xfrm>
            <a:off x="5897880" y="2560320"/>
            <a:ext cx="274320" cy="274320"/>
          </a:xfrm>
          <a:prstGeom prst="rect">
            <a:avLst/>
          </a:prstGeom>
        </p:spPr>
      </p:pic>
      <p:sp>
        <p:nvSpPr>
          <p:cNvPr id="20" name="Text 16"/>
          <p:cNvSpPr/>
          <p:nvPr/>
        </p:nvSpPr>
        <p:spPr>
          <a:xfrm>
            <a:off x="6263640" y="2542032"/>
            <a:ext cx="5212080" cy="38404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GitHub Actions CI/CD — deploy in minutes</a:t>
            </a:r>
            <a:endParaRPr lang="en-US" sz="1200" dirty="0"/>
          </a:p>
        </p:txBody>
      </p:sp>
      <p:pic>
        <p:nvPicPr>
          <p:cNvPr id="21" name="Image 2" descr="preencoded.png">    </p:cNvPr>
          <p:cNvPicPr>
            <a:picLocks noChangeAspect="1"/>
          </p:cNvPicPr>
          <p:nvPr/>
        </p:nvPicPr>
        <p:blipFill>
          <a:blip r:embed="rId3"/>
          <a:stretch>
            <a:fillRect/>
          </a:stretch>
        </p:blipFill>
        <p:spPr>
          <a:xfrm>
            <a:off x="5897880" y="3044952"/>
            <a:ext cx="274320" cy="274320"/>
          </a:xfrm>
          <a:prstGeom prst="rect">
            <a:avLst/>
          </a:prstGeom>
        </p:spPr>
      </p:pic>
      <p:sp>
        <p:nvSpPr>
          <p:cNvPr id="22" name="Text 17"/>
          <p:cNvSpPr/>
          <p:nvPr/>
        </p:nvSpPr>
        <p:spPr>
          <a:xfrm>
            <a:off x="6263640" y="3026664"/>
            <a:ext cx="5212080" cy="38404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Azure Key Vault + CSI driver — zero hardcoded secrets</a:t>
            </a:r>
            <a:endParaRPr lang="en-US" sz="1200" dirty="0"/>
          </a:p>
        </p:txBody>
      </p:sp>
      <p:pic>
        <p:nvPicPr>
          <p:cNvPr id="23" name="Image 3" descr="preencoded.png">    </p:cNvPr>
          <p:cNvPicPr>
            <a:picLocks noChangeAspect="1"/>
          </p:cNvPicPr>
          <p:nvPr/>
        </p:nvPicPr>
        <p:blipFill>
          <a:blip r:embed="rId4"/>
          <a:stretch>
            <a:fillRect/>
          </a:stretch>
        </p:blipFill>
        <p:spPr>
          <a:xfrm>
            <a:off x="5897880" y="3529584"/>
            <a:ext cx="274320" cy="274320"/>
          </a:xfrm>
          <a:prstGeom prst="rect">
            <a:avLst/>
          </a:prstGeom>
        </p:spPr>
      </p:pic>
      <p:sp>
        <p:nvSpPr>
          <p:cNvPr id="24" name="Text 18"/>
          <p:cNvSpPr/>
          <p:nvPr/>
        </p:nvSpPr>
        <p:spPr>
          <a:xfrm>
            <a:off x="6263640" y="3511296"/>
            <a:ext cx="5212080" cy="38404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Isolated subnets + Private Endpoints + WAF</a:t>
            </a:r>
            <a:endParaRPr lang="en-US" sz="1200" dirty="0"/>
          </a:p>
        </p:txBody>
      </p:sp>
      <p:pic>
        <p:nvPicPr>
          <p:cNvPr id="25" name="Image 4" descr="preencoded.png">    </p:cNvPr>
          <p:cNvPicPr>
            <a:picLocks noChangeAspect="1"/>
          </p:cNvPicPr>
          <p:nvPr/>
        </p:nvPicPr>
        <p:blipFill>
          <a:blip r:embed="rId5"/>
          <a:stretch>
            <a:fillRect/>
          </a:stretch>
        </p:blipFill>
        <p:spPr>
          <a:xfrm>
            <a:off x="5897880" y="4014216"/>
            <a:ext cx="274320" cy="274320"/>
          </a:xfrm>
          <a:prstGeom prst="rect">
            <a:avLst/>
          </a:prstGeom>
        </p:spPr>
      </p:pic>
      <p:sp>
        <p:nvSpPr>
          <p:cNvPr id="26" name="Text 19"/>
          <p:cNvSpPr/>
          <p:nvPr/>
        </p:nvSpPr>
        <p:spPr>
          <a:xfrm>
            <a:off x="6263640" y="3995928"/>
            <a:ext cx="5212080" cy="38404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AKS Horizontal Pod Autoscaler — elastic scale</a:t>
            </a:r>
            <a:endParaRPr lang="en-US" sz="1200" dirty="0"/>
          </a:p>
        </p:txBody>
      </p:sp>
      <p:pic>
        <p:nvPicPr>
          <p:cNvPr id="27" name="Image 5" descr="preencoded.png">    </p:cNvPr>
          <p:cNvPicPr>
            <a:picLocks noChangeAspect="1"/>
          </p:cNvPicPr>
          <p:nvPr/>
        </p:nvPicPr>
        <p:blipFill>
          <a:blip r:embed="rId6"/>
          <a:stretch>
            <a:fillRect/>
          </a:stretch>
        </p:blipFill>
        <p:spPr>
          <a:xfrm>
            <a:off x="5897880" y="4498848"/>
            <a:ext cx="274320" cy="274320"/>
          </a:xfrm>
          <a:prstGeom prst="rect">
            <a:avLst/>
          </a:prstGeom>
        </p:spPr>
      </p:pic>
      <p:sp>
        <p:nvSpPr>
          <p:cNvPr id="28" name="Text 20"/>
          <p:cNvSpPr/>
          <p:nvPr/>
        </p:nvSpPr>
        <p:spPr>
          <a:xfrm>
            <a:off x="6263640" y="4480560"/>
            <a:ext cx="5212080" cy="38404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Multi-zone AKS — 99.9% SLA with zero downtime</a:t>
            </a:r>
            <a:endParaRPr lang="en-US" sz="1200" dirty="0"/>
          </a:p>
        </p:txBody>
      </p:sp>
      <p:pic>
        <p:nvPicPr>
          <p:cNvPr id="29" name="Image 6" descr="preencoded.png">    </p:cNvPr>
          <p:cNvPicPr>
            <a:picLocks noChangeAspect="1"/>
          </p:cNvPicPr>
          <p:nvPr/>
        </p:nvPicPr>
        <p:blipFill>
          <a:blip r:embed="rId7"/>
          <a:stretch>
            <a:fillRect/>
          </a:stretch>
        </p:blipFill>
        <p:spPr>
          <a:xfrm>
            <a:off x="5897880" y="4983480"/>
            <a:ext cx="274320" cy="274320"/>
          </a:xfrm>
          <a:prstGeom prst="rect">
            <a:avLst/>
          </a:prstGeom>
        </p:spPr>
      </p:pic>
      <p:sp>
        <p:nvSpPr>
          <p:cNvPr id="30" name="Text 21"/>
          <p:cNvSpPr/>
          <p:nvPr/>
        </p:nvSpPr>
        <p:spPr>
          <a:xfrm>
            <a:off x="6263640" y="4965192"/>
            <a:ext cx="5212080" cy="38404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Terraform IaC — identical Dev/Staging/Prod in minutes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2040"/>
          </a:solidFill>
          <a:ln w="12700">
            <a:solidFill>
              <a:srgbClr val="0D2040"/>
            </a:solidFill>
            <a:prstDash val="solid"/>
          </a:ln>
        </p:spPr>
      </p:sp>
      <p:sp>
        <p:nvSpPr>
          <p:cNvPr id="3" name="Shape 1"/>
          <p:cNvSpPr/>
          <p:nvPr/>
        </p:nvSpPr>
        <p:spPr>
          <a:xfrm>
            <a:off x="228600" y="137160"/>
            <a:ext cx="384048" cy="384048"/>
          </a:xfrm>
          <a:prstGeom prst="ellipse">
            <a:avLst/>
          </a:prstGeom>
          <a:solidFill>
            <a:srgbClr val="00C8FF">
              <a:alpha val="80000"/>
            </a:srgbClr>
          </a:solidFill>
          <a:ln w="12700">
            <a:solidFill>
              <a:srgbClr val="00C8FF"/>
            </a:solidFill>
            <a:prstDash val="solid"/>
          </a:ln>
        </p:spPr>
      </p:sp>
      <p:sp>
        <p:nvSpPr>
          <p:cNvPr id="4" name="Shape 2"/>
          <p:cNvSpPr/>
          <p:nvPr/>
        </p:nvSpPr>
        <p:spPr>
          <a:xfrm>
            <a:off x="502920" y="256032"/>
            <a:ext cx="164592" cy="164592"/>
          </a:xfrm>
          <a:prstGeom prst="ellipse">
            <a:avLst/>
          </a:prstGeom>
          <a:solidFill>
            <a:srgbClr val="00C8FF">
              <a:alpha val="60000"/>
            </a:srgbClr>
          </a:solidFill>
          <a:ln w="12700">
            <a:solidFill>
              <a:srgbClr val="00C8FF"/>
            </a:solidFill>
            <a:prstDash val="solid"/>
          </a:ln>
        </p:spPr>
      </p:sp>
      <p:sp>
        <p:nvSpPr>
          <p:cNvPr id="5" name="Text 3"/>
          <p:cNvSpPr/>
          <p:nvPr/>
        </p:nvSpPr>
        <p:spPr>
          <a:xfrm>
            <a:off x="777240" y="73152"/>
            <a:ext cx="6858000" cy="50292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Microservices Architecture</a:t>
            </a:r>
            <a:endParaRPr lang="en-US" sz="2200" dirty="0"/>
          </a:p>
        </p:txBody>
      </p:sp>
      <p:sp>
        <p:nvSpPr>
          <p:cNvPr id="6" name="Text 4"/>
          <p:cNvSpPr/>
          <p:nvPr/>
        </p:nvSpPr>
        <p:spPr>
          <a:xfrm>
            <a:off x="777240" y="73152"/>
            <a:ext cx="6858000" cy="502920"/>
          </a:xfrm>
          <a:prstGeom prst="rect">
            <a:avLst/>
          </a:prstGeom>
          <a:noFill/>
          <a:ln/>
        </p:spPr>
        <p:txBody>
          <a:bodyPr wrap="square" lIns="0" tIns="0" rIns="0" bIns="0" rtlCol="0" anchor="ctr"/>
          <a:lstStyle/>
          <a:p>
            <a:pPr algn="r" indent="0" marL="0">
              <a:buNone/>
            </a:pPr>
            <a:r>
              <a:rPr lang="en-US" sz="1300" dirty="0">
                <a:solidFill>
                  <a:srgbClr val="00C8FF"/>
                </a:solidFill>
                <a:latin typeface="Calibri" pitchFamily="34" charset="0"/>
                <a:ea typeface="Calibri" pitchFamily="34" charset="-122"/>
                <a:cs typeface="Calibri" pitchFamily="34" charset="-120"/>
              </a:rPr>
              <a:t>8 Domain-Driven Node.js Services</a:t>
            </a:r>
            <a:endParaRPr lang="en-US" sz="1300" dirty="0"/>
          </a:p>
        </p:txBody>
      </p:sp>
      <p:sp>
        <p:nvSpPr>
          <p:cNvPr id="7" name="Shape 5"/>
          <p:cNvSpPr/>
          <p:nvPr/>
        </p:nvSpPr>
        <p:spPr>
          <a:xfrm>
            <a:off x="8412480" y="109728"/>
            <a:ext cx="548640" cy="438912"/>
          </a:xfrm>
          <a:prstGeom prst="roundRect">
            <a:avLst>
              <a:gd name="adj" fmla="val 16667"/>
            </a:avLst>
          </a:prstGeom>
          <a:solidFill>
            <a:srgbClr val="00C8FF"/>
          </a:solidFill>
          <a:ln w="12700">
            <a:solidFill>
              <a:srgbClr val="00C8FF"/>
            </a:solidFill>
            <a:prstDash val="solid"/>
          </a:ln>
        </p:spPr>
      </p:sp>
      <p:sp>
        <p:nvSpPr>
          <p:cNvPr id="8" name="Text 6"/>
          <p:cNvSpPr/>
          <p:nvPr/>
        </p:nvSpPr>
        <p:spPr>
          <a:xfrm>
            <a:off x="457200" y="804672"/>
            <a:ext cx="11247120" cy="411480"/>
          </a:xfrm>
          <a:prstGeom prst="rect">
            <a:avLst/>
          </a:prstGeom>
          <a:noFill/>
          <a:ln/>
        </p:spPr>
        <p:txBody>
          <a:bodyPr wrap="square" lIns="0" tIns="0" rIns="0" bIns="0" rtlCol="0" anchor="ctr"/>
          <a:lstStyle/>
          <a:p>
            <a:pPr algn="ctr" indent="0" marL="0">
              <a:buNone/>
            </a:pPr>
            <a:r>
              <a:rPr lang="en-US" sz="1300" dirty="0">
                <a:solidFill>
                  <a:srgbClr val="A8BBCC"/>
                </a:solidFill>
                <a:latin typeface="Calibri" pitchFamily="34" charset="0"/>
                <a:ea typeface="Calibri" pitchFamily="34" charset="-122"/>
                <a:cs typeface="Calibri" pitchFamily="34" charset="-120"/>
              </a:rPr>
              <a:t>Each service owns its domain, scales independently, and communicates through well-defined APIs</a:t>
            </a:r>
            <a:endParaRPr lang="en-US" sz="1300" dirty="0"/>
          </a:p>
        </p:txBody>
      </p:sp>
      <p:sp>
        <p:nvSpPr>
          <p:cNvPr id="9" name="Shape 7"/>
          <p:cNvSpPr/>
          <p:nvPr/>
        </p:nvSpPr>
        <p:spPr>
          <a:xfrm>
            <a:off x="4480560" y="1325880"/>
            <a:ext cx="3200400" cy="777240"/>
          </a:xfrm>
          <a:prstGeom prst="roundRect">
            <a:avLst>
              <a:gd name="adj" fmla="val 14118"/>
            </a:avLst>
          </a:prstGeom>
          <a:solidFill>
            <a:srgbClr val="0089C8"/>
          </a:solidFill>
          <a:ln w="12700">
            <a:solidFill>
              <a:srgbClr val="00C8FF"/>
            </a:solidFill>
            <a:prstDash val="solid"/>
          </a:ln>
          <a:effectLst>
            <a:outerShdw sx="100000" sy="100000" kx="0" ky="0" algn="bl" rotWithShape="0" blurRad="127000" dist="38100" dir="2700000">
              <a:srgbClr val="000000">
                <a:alpha val="25000"/>
              </a:srgbClr>
            </a:outerShdw>
          </a:effectLst>
        </p:spPr>
      </p:sp>
      <p:sp>
        <p:nvSpPr>
          <p:cNvPr id="10" name="Text 8"/>
          <p:cNvSpPr/>
          <p:nvPr/>
        </p:nvSpPr>
        <p:spPr>
          <a:xfrm>
            <a:off x="4480560" y="1325880"/>
            <a:ext cx="3200400" cy="7772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API Gateway</a:t>
            </a:r>
            <a:endParaRPr lang="en-US" sz="1600" dirty="0"/>
          </a:p>
        </p:txBody>
      </p:sp>
      <p:sp>
        <p:nvSpPr>
          <p:cNvPr id="11" name="Shape 9"/>
          <p:cNvSpPr/>
          <p:nvPr/>
        </p:nvSpPr>
        <p:spPr>
          <a:xfrm>
            <a:off x="6080760" y="2103120"/>
            <a:ext cx="0" cy="228600"/>
          </a:xfrm>
          <a:prstGeom prst="line">
            <a:avLst/>
          </a:prstGeom>
          <a:noFill/>
          <a:ln w="12700">
            <a:solidFill>
              <a:srgbClr val="5A7A9A"/>
            </a:solidFill>
            <a:prstDash val="dash"/>
          </a:ln>
        </p:spPr>
      </p:sp>
      <p:sp>
        <p:nvSpPr>
          <p:cNvPr id="12" name="Shape 10"/>
          <p:cNvSpPr/>
          <p:nvPr/>
        </p:nvSpPr>
        <p:spPr>
          <a:xfrm>
            <a:off x="365760" y="2331720"/>
            <a:ext cx="2651760" cy="1554480"/>
          </a:xfrm>
          <a:prstGeom prst="roundRect">
            <a:avLst>
              <a:gd name="adj" fmla="val 7059"/>
            </a:avLst>
          </a:prstGeom>
          <a:solidFill>
            <a:srgbClr val="1E3A5F"/>
          </a:solidFill>
          <a:ln w="12700">
            <a:solidFill>
              <a:srgbClr val="1A3A5C"/>
            </a:solidFill>
            <a:prstDash val="solid"/>
          </a:ln>
          <a:effectLst>
            <a:outerShdw sx="100000" sy="100000" kx="0" ky="0" algn="bl" rotWithShape="0" blurRad="76200" dist="25400" dir="2700000">
              <a:srgbClr val="000000">
                <a:alpha val="18000"/>
              </a:srgbClr>
            </a:outerShdw>
          </a:effectLst>
        </p:spPr>
      </p:sp>
      <p:sp>
        <p:nvSpPr>
          <p:cNvPr id="13" name="Shape 11"/>
          <p:cNvSpPr/>
          <p:nvPr/>
        </p:nvSpPr>
        <p:spPr>
          <a:xfrm>
            <a:off x="502920" y="2441448"/>
            <a:ext cx="256032" cy="256032"/>
          </a:xfrm>
          <a:prstGeom prst="roundRect">
            <a:avLst>
              <a:gd name="adj" fmla="val 21429"/>
            </a:avLst>
          </a:prstGeom>
          <a:solidFill>
            <a:srgbClr val="00C8FF"/>
          </a:solidFill>
          <a:ln w="12700">
            <a:solidFill>
              <a:srgbClr val="00C8FF"/>
            </a:solidFill>
            <a:prstDash val="solid"/>
          </a:ln>
        </p:spPr>
      </p:sp>
      <p:sp>
        <p:nvSpPr>
          <p:cNvPr id="14" name="Text 12"/>
          <p:cNvSpPr/>
          <p:nvPr/>
        </p:nvSpPr>
        <p:spPr>
          <a:xfrm>
            <a:off x="868680" y="2404872"/>
            <a:ext cx="205740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Auth Service</a:t>
            </a:r>
            <a:endParaRPr lang="en-US" sz="1300" dirty="0"/>
          </a:p>
        </p:txBody>
      </p:sp>
      <p:sp>
        <p:nvSpPr>
          <p:cNvPr id="15" name="Text 13"/>
          <p:cNvSpPr/>
          <p:nvPr/>
        </p:nvSpPr>
        <p:spPr>
          <a:xfrm>
            <a:off x="502920" y="2880360"/>
            <a:ext cx="2377440" cy="777240"/>
          </a:xfrm>
          <a:prstGeom prst="rect">
            <a:avLst/>
          </a:prstGeom>
          <a:noFill/>
          <a:ln/>
        </p:spPr>
        <p:txBody>
          <a:bodyPr wrap="square" lIns="0" tIns="0" rIns="0" bIns="0" rtlCol="0" anchor="ctr"/>
          <a:lstStyle/>
          <a:p>
            <a:pPr indent="0" marL="0">
              <a:buNone/>
            </a:pPr>
            <a:r>
              <a:rPr lang="en-US" sz="1050" dirty="0">
                <a:solidFill>
                  <a:srgbClr val="A8BBCC"/>
                </a:solidFill>
                <a:latin typeface="Calibri" pitchFamily="34" charset="0"/>
                <a:ea typeface="Calibri" pitchFamily="34" charset="-122"/>
                <a:cs typeface="Calibri" pitchFamily="34" charset="-120"/>
              </a:rPr>
              <a:t>JWT / OAuth 2.0</a:t>
            </a:r>
            <a:endParaRPr lang="en-US" sz="1050" dirty="0"/>
          </a:p>
          <a:p>
            <a:pPr indent="0" marL="0">
              <a:buNone/>
            </a:pPr>
            <a:r>
              <a:rPr lang="en-US" sz="1050" dirty="0">
                <a:solidFill>
                  <a:srgbClr val="A8BBCC"/>
                </a:solidFill>
                <a:latin typeface="Calibri" pitchFamily="34" charset="0"/>
                <a:ea typeface="Calibri" pitchFamily="34" charset="-122"/>
                <a:cs typeface="Calibri" pitchFamily="34" charset="-120"/>
              </a:rPr>
              <a:t>Token validation</a:t>
            </a:r>
            <a:endParaRPr lang="en-US" sz="1050" dirty="0"/>
          </a:p>
        </p:txBody>
      </p:sp>
      <p:sp>
        <p:nvSpPr>
          <p:cNvPr id="16" name="Shape 14"/>
          <p:cNvSpPr/>
          <p:nvPr/>
        </p:nvSpPr>
        <p:spPr>
          <a:xfrm>
            <a:off x="6080760" y="2103120"/>
            <a:ext cx="0" cy="228600"/>
          </a:xfrm>
          <a:prstGeom prst="line">
            <a:avLst/>
          </a:prstGeom>
          <a:noFill/>
          <a:ln w="12700">
            <a:solidFill>
              <a:srgbClr val="5A7A9A"/>
            </a:solidFill>
            <a:prstDash val="dash"/>
          </a:ln>
        </p:spPr>
      </p:sp>
      <p:sp>
        <p:nvSpPr>
          <p:cNvPr id="17" name="Shape 15"/>
          <p:cNvSpPr/>
          <p:nvPr/>
        </p:nvSpPr>
        <p:spPr>
          <a:xfrm>
            <a:off x="3246120" y="2331720"/>
            <a:ext cx="2651760" cy="1554480"/>
          </a:xfrm>
          <a:prstGeom prst="roundRect">
            <a:avLst>
              <a:gd name="adj" fmla="val 7059"/>
            </a:avLst>
          </a:prstGeom>
          <a:solidFill>
            <a:srgbClr val="1E3A5F"/>
          </a:solidFill>
          <a:ln w="12700">
            <a:solidFill>
              <a:srgbClr val="1A3A5C"/>
            </a:solidFill>
            <a:prstDash val="solid"/>
          </a:ln>
          <a:effectLst>
            <a:outerShdw sx="100000" sy="100000" kx="0" ky="0" algn="bl" rotWithShape="0" blurRad="76200" dist="25400" dir="2700000">
              <a:srgbClr val="000000">
                <a:alpha val="18000"/>
              </a:srgbClr>
            </a:outerShdw>
          </a:effectLst>
        </p:spPr>
      </p:sp>
      <p:sp>
        <p:nvSpPr>
          <p:cNvPr id="18" name="Shape 16"/>
          <p:cNvSpPr/>
          <p:nvPr/>
        </p:nvSpPr>
        <p:spPr>
          <a:xfrm>
            <a:off x="3383280" y="2441448"/>
            <a:ext cx="256032" cy="256032"/>
          </a:xfrm>
          <a:prstGeom prst="roundRect">
            <a:avLst>
              <a:gd name="adj" fmla="val 21429"/>
            </a:avLst>
          </a:prstGeom>
          <a:solidFill>
            <a:srgbClr val="00C8FF"/>
          </a:solidFill>
          <a:ln w="12700">
            <a:solidFill>
              <a:srgbClr val="00C8FF"/>
            </a:solidFill>
            <a:prstDash val="solid"/>
          </a:ln>
        </p:spPr>
      </p:sp>
      <p:sp>
        <p:nvSpPr>
          <p:cNvPr id="19" name="Text 17"/>
          <p:cNvSpPr/>
          <p:nvPr/>
        </p:nvSpPr>
        <p:spPr>
          <a:xfrm>
            <a:off x="3749040" y="2404872"/>
            <a:ext cx="205740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User Service</a:t>
            </a:r>
            <a:endParaRPr lang="en-US" sz="1300" dirty="0"/>
          </a:p>
        </p:txBody>
      </p:sp>
      <p:sp>
        <p:nvSpPr>
          <p:cNvPr id="20" name="Text 18"/>
          <p:cNvSpPr/>
          <p:nvPr/>
        </p:nvSpPr>
        <p:spPr>
          <a:xfrm>
            <a:off x="3383280" y="2880360"/>
            <a:ext cx="2377440" cy="777240"/>
          </a:xfrm>
          <a:prstGeom prst="rect">
            <a:avLst/>
          </a:prstGeom>
          <a:noFill/>
          <a:ln/>
        </p:spPr>
        <p:txBody>
          <a:bodyPr wrap="square" lIns="0" tIns="0" rIns="0" bIns="0" rtlCol="0" anchor="ctr"/>
          <a:lstStyle/>
          <a:p>
            <a:pPr indent="0" marL="0">
              <a:buNone/>
            </a:pPr>
            <a:r>
              <a:rPr lang="en-US" sz="1050" dirty="0">
                <a:solidFill>
                  <a:srgbClr val="A8BBCC"/>
                </a:solidFill>
                <a:latin typeface="Calibri" pitchFamily="34" charset="0"/>
                <a:ea typeface="Calibri" pitchFamily="34" charset="-122"/>
                <a:cs typeface="Calibri" pitchFamily="34" charset="-120"/>
              </a:rPr>
              <a:t>Profile management</a:t>
            </a:r>
            <a:endParaRPr lang="en-US" sz="1050" dirty="0"/>
          </a:p>
          <a:p>
            <a:pPr indent="0" marL="0">
              <a:buNone/>
            </a:pPr>
            <a:r>
              <a:rPr lang="en-US" sz="1050" dirty="0">
                <a:solidFill>
                  <a:srgbClr val="A8BBCC"/>
                </a:solidFill>
                <a:latin typeface="Calibri" pitchFamily="34" charset="0"/>
                <a:ea typeface="Calibri" pitchFamily="34" charset="-122"/>
                <a:cs typeface="Calibri" pitchFamily="34" charset="-120"/>
              </a:rPr>
              <a:t>KYC linking</a:t>
            </a:r>
            <a:endParaRPr lang="en-US" sz="1050" dirty="0"/>
          </a:p>
        </p:txBody>
      </p:sp>
      <p:sp>
        <p:nvSpPr>
          <p:cNvPr id="21" name="Shape 19"/>
          <p:cNvSpPr/>
          <p:nvPr/>
        </p:nvSpPr>
        <p:spPr>
          <a:xfrm>
            <a:off x="6080760" y="2103120"/>
            <a:ext cx="0" cy="228600"/>
          </a:xfrm>
          <a:prstGeom prst="line">
            <a:avLst/>
          </a:prstGeom>
          <a:noFill/>
          <a:ln w="12700">
            <a:solidFill>
              <a:srgbClr val="5A7A9A"/>
            </a:solidFill>
            <a:prstDash val="dash"/>
          </a:ln>
        </p:spPr>
      </p:sp>
      <p:sp>
        <p:nvSpPr>
          <p:cNvPr id="22" name="Shape 20"/>
          <p:cNvSpPr/>
          <p:nvPr/>
        </p:nvSpPr>
        <p:spPr>
          <a:xfrm>
            <a:off x="6126480" y="2331720"/>
            <a:ext cx="2651760" cy="1554480"/>
          </a:xfrm>
          <a:prstGeom prst="roundRect">
            <a:avLst>
              <a:gd name="adj" fmla="val 7059"/>
            </a:avLst>
          </a:prstGeom>
          <a:solidFill>
            <a:srgbClr val="1E3A5F"/>
          </a:solidFill>
          <a:ln w="12700">
            <a:solidFill>
              <a:srgbClr val="1A3A5C"/>
            </a:solidFill>
            <a:prstDash val="solid"/>
          </a:ln>
          <a:effectLst>
            <a:outerShdw sx="100000" sy="100000" kx="0" ky="0" algn="bl" rotWithShape="0" blurRad="76200" dist="25400" dir="2700000">
              <a:srgbClr val="000000">
                <a:alpha val="18000"/>
              </a:srgbClr>
            </a:outerShdw>
          </a:effectLst>
        </p:spPr>
      </p:sp>
      <p:sp>
        <p:nvSpPr>
          <p:cNvPr id="23" name="Shape 21"/>
          <p:cNvSpPr/>
          <p:nvPr/>
        </p:nvSpPr>
        <p:spPr>
          <a:xfrm>
            <a:off x="6263640" y="2441448"/>
            <a:ext cx="256032" cy="256032"/>
          </a:xfrm>
          <a:prstGeom prst="roundRect">
            <a:avLst>
              <a:gd name="adj" fmla="val 21429"/>
            </a:avLst>
          </a:prstGeom>
          <a:solidFill>
            <a:srgbClr val="00C8FF"/>
          </a:solidFill>
          <a:ln w="12700">
            <a:solidFill>
              <a:srgbClr val="00C8FF"/>
            </a:solidFill>
            <a:prstDash val="solid"/>
          </a:ln>
        </p:spPr>
      </p:sp>
      <p:sp>
        <p:nvSpPr>
          <p:cNvPr id="24" name="Text 22"/>
          <p:cNvSpPr/>
          <p:nvPr/>
        </p:nvSpPr>
        <p:spPr>
          <a:xfrm>
            <a:off x="6629400" y="2404872"/>
            <a:ext cx="205740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Transaction Service</a:t>
            </a:r>
            <a:endParaRPr lang="en-US" sz="1300" dirty="0"/>
          </a:p>
        </p:txBody>
      </p:sp>
      <p:sp>
        <p:nvSpPr>
          <p:cNvPr id="25" name="Text 23"/>
          <p:cNvSpPr/>
          <p:nvPr/>
        </p:nvSpPr>
        <p:spPr>
          <a:xfrm>
            <a:off x="6263640" y="2880360"/>
            <a:ext cx="2377440" cy="777240"/>
          </a:xfrm>
          <a:prstGeom prst="rect">
            <a:avLst/>
          </a:prstGeom>
          <a:noFill/>
          <a:ln/>
        </p:spPr>
        <p:txBody>
          <a:bodyPr wrap="square" lIns="0" tIns="0" rIns="0" bIns="0" rtlCol="0" anchor="ctr"/>
          <a:lstStyle/>
          <a:p>
            <a:pPr indent="0" marL="0">
              <a:buNone/>
            </a:pPr>
            <a:r>
              <a:rPr lang="en-US" sz="1050" dirty="0">
                <a:solidFill>
                  <a:srgbClr val="A8BBCC"/>
                </a:solidFill>
                <a:latin typeface="Calibri" pitchFamily="34" charset="0"/>
                <a:ea typeface="Calibri" pitchFamily="34" charset="-122"/>
                <a:cs typeface="Calibri" pitchFamily="34" charset="-120"/>
              </a:rPr>
              <a:t>Payment processing</a:t>
            </a:r>
            <a:endParaRPr lang="en-US" sz="1050" dirty="0"/>
          </a:p>
          <a:p>
            <a:pPr indent="0" marL="0">
              <a:buNone/>
            </a:pPr>
            <a:r>
              <a:rPr lang="en-US" sz="1050" dirty="0">
                <a:solidFill>
                  <a:srgbClr val="A8BBCC"/>
                </a:solidFill>
                <a:latin typeface="Calibri" pitchFamily="34" charset="0"/>
                <a:ea typeface="Calibri" pitchFamily="34" charset="-122"/>
                <a:cs typeface="Calibri" pitchFamily="34" charset="-120"/>
              </a:rPr>
              <a:t>Ledger recording</a:t>
            </a:r>
            <a:endParaRPr lang="en-US" sz="1050" dirty="0"/>
          </a:p>
        </p:txBody>
      </p:sp>
      <p:sp>
        <p:nvSpPr>
          <p:cNvPr id="26" name="Shape 24"/>
          <p:cNvSpPr/>
          <p:nvPr/>
        </p:nvSpPr>
        <p:spPr>
          <a:xfrm>
            <a:off x="6080760" y="2103120"/>
            <a:ext cx="0" cy="228600"/>
          </a:xfrm>
          <a:prstGeom prst="line">
            <a:avLst/>
          </a:prstGeom>
          <a:noFill/>
          <a:ln w="12700">
            <a:solidFill>
              <a:srgbClr val="5A7A9A"/>
            </a:solidFill>
            <a:prstDash val="dash"/>
          </a:ln>
        </p:spPr>
      </p:sp>
      <p:sp>
        <p:nvSpPr>
          <p:cNvPr id="27" name="Shape 25"/>
          <p:cNvSpPr/>
          <p:nvPr/>
        </p:nvSpPr>
        <p:spPr>
          <a:xfrm>
            <a:off x="9006840" y="2331720"/>
            <a:ext cx="2651760" cy="1554480"/>
          </a:xfrm>
          <a:prstGeom prst="roundRect">
            <a:avLst>
              <a:gd name="adj" fmla="val 7059"/>
            </a:avLst>
          </a:prstGeom>
          <a:solidFill>
            <a:srgbClr val="1E3A5F"/>
          </a:solidFill>
          <a:ln w="12700">
            <a:solidFill>
              <a:srgbClr val="1A3A5C"/>
            </a:solidFill>
            <a:prstDash val="solid"/>
          </a:ln>
          <a:effectLst>
            <a:outerShdw sx="100000" sy="100000" kx="0" ky="0" algn="bl" rotWithShape="0" blurRad="76200" dist="25400" dir="2700000">
              <a:srgbClr val="000000">
                <a:alpha val="18000"/>
              </a:srgbClr>
            </a:outerShdw>
          </a:effectLst>
        </p:spPr>
      </p:sp>
      <p:sp>
        <p:nvSpPr>
          <p:cNvPr id="28" name="Shape 26"/>
          <p:cNvSpPr/>
          <p:nvPr/>
        </p:nvSpPr>
        <p:spPr>
          <a:xfrm>
            <a:off x="9144000" y="2441448"/>
            <a:ext cx="256032" cy="256032"/>
          </a:xfrm>
          <a:prstGeom prst="roundRect">
            <a:avLst>
              <a:gd name="adj" fmla="val 21429"/>
            </a:avLst>
          </a:prstGeom>
          <a:solidFill>
            <a:srgbClr val="00C8FF"/>
          </a:solidFill>
          <a:ln w="12700">
            <a:solidFill>
              <a:srgbClr val="00C8FF"/>
            </a:solidFill>
            <a:prstDash val="solid"/>
          </a:ln>
        </p:spPr>
      </p:sp>
      <p:sp>
        <p:nvSpPr>
          <p:cNvPr id="29" name="Text 27"/>
          <p:cNvSpPr/>
          <p:nvPr/>
        </p:nvSpPr>
        <p:spPr>
          <a:xfrm>
            <a:off x="9509760" y="2404872"/>
            <a:ext cx="205740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KYC Service</a:t>
            </a:r>
            <a:endParaRPr lang="en-US" sz="1300" dirty="0"/>
          </a:p>
        </p:txBody>
      </p:sp>
      <p:sp>
        <p:nvSpPr>
          <p:cNvPr id="30" name="Text 28"/>
          <p:cNvSpPr/>
          <p:nvPr/>
        </p:nvSpPr>
        <p:spPr>
          <a:xfrm>
            <a:off x="9144000" y="2880360"/>
            <a:ext cx="2377440" cy="777240"/>
          </a:xfrm>
          <a:prstGeom prst="rect">
            <a:avLst/>
          </a:prstGeom>
          <a:noFill/>
          <a:ln/>
        </p:spPr>
        <p:txBody>
          <a:bodyPr wrap="square" lIns="0" tIns="0" rIns="0" bIns="0" rtlCol="0" anchor="ctr"/>
          <a:lstStyle/>
          <a:p>
            <a:pPr indent="0" marL="0">
              <a:buNone/>
            </a:pPr>
            <a:r>
              <a:rPr lang="en-US" sz="1050" dirty="0">
                <a:solidFill>
                  <a:srgbClr val="A8BBCC"/>
                </a:solidFill>
                <a:latin typeface="Calibri" pitchFamily="34" charset="0"/>
                <a:ea typeface="Calibri" pitchFamily="34" charset="-122"/>
                <a:cs typeface="Calibri" pitchFamily="34" charset="-120"/>
              </a:rPr>
              <a:t>Identity verification</a:t>
            </a:r>
            <a:endParaRPr lang="en-US" sz="1050" dirty="0"/>
          </a:p>
          <a:p>
            <a:pPr indent="0" marL="0">
              <a:buNone/>
            </a:pPr>
            <a:r>
              <a:rPr lang="en-US" sz="1050" dirty="0">
                <a:solidFill>
                  <a:srgbClr val="A8BBCC"/>
                </a:solidFill>
                <a:latin typeface="Calibri" pitchFamily="34" charset="0"/>
                <a:ea typeface="Calibri" pitchFamily="34" charset="-122"/>
                <a:cs typeface="Calibri" pitchFamily="34" charset="-120"/>
              </a:rPr>
              <a:t>Doc orchestration</a:t>
            </a:r>
            <a:endParaRPr lang="en-US" sz="1050" dirty="0"/>
          </a:p>
        </p:txBody>
      </p:sp>
      <p:sp>
        <p:nvSpPr>
          <p:cNvPr id="31" name="Shape 29"/>
          <p:cNvSpPr/>
          <p:nvPr/>
        </p:nvSpPr>
        <p:spPr>
          <a:xfrm>
            <a:off x="365760" y="4160520"/>
            <a:ext cx="2651760" cy="1554480"/>
          </a:xfrm>
          <a:prstGeom prst="roundRect">
            <a:avLst>
              <a:gd name="adj" fmla="val 7059"/>
            </a:avLst>
          </a:prstGeom>
          <a:solidFill>
            <a:srgbClr val="1A2E4A"/>
          </a:solidFill>
          <a:ln w="12700">
            <a:solidFill>
              <a:srgbClr val="1A3A5C"/>
            </a:solidFill>
            <a:prstDash val="solid"/>
          </a:ln>
          <a:effectLst>
            <a:outerShdw sx="100000" sy="100000" kx="0" ky="0" algn="bl" rotWithShape="0" blurRad="76200" dist="25400" dir="2700000">
              <a:srgbClr val="000000">
                <a:alpha val="18000"/>
              </a:srgbClr>
            </a:outerShdw>
          </a:effectLst>
        </p:spPr>
      </p:sp>
      <p:sp>
        <p:nvSpPr>
          <p:cNvPr id="32" name="Shape 30"/>
          <p:cNvSpPr/>
          <p:nvPr/>
        </p:nvSpPr>
        <p:spPr>
          <a:xfrm>
            <a:off x="502920" y="4270248"/>
            <a:ext cx="256032" cy="256032"/>
          </a:xfrm>
          <a:prstGeom prst="roundRect">
            <a:avLst>
              <a:gd name="adj" fmla="val 21429"/>
            </a:avLst>
          </a:prstGeom>
          <a:solidFill>
            <a:srgbClr val="00C8FF"/>
          </a:solidFill>
          <a:ln w="12700">
            <a:solidFill>
              <a:srgbClr val="00C8FF"/>
            </a:solidFill>
            <a:prstDash val="solid"/>
          </a:ln>
        </p:spPr>
      </p:sp>
      <p:sp>
        <p:nvSpPr>
          <p:cNvPr id="33" name="Text 31"/>
          <p:cNvSpPr/>
          <p:nvPr/>
        </p:nvSpPr>
        <p:spPr>
          <a:xfrm>
            <a:off x="868680" y="4233672"/>
            <a:ext cx="205740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Document Processor</a:t>
            </a:r>
            <a:endParaRPr lang="en-US" sz="1300" dirty="0"/>
          </a:p>
        </p:txBody>
      </p:sp>
      <p:sp>
        <p:nvSpPr>
          <p:cNvPr id="34" name="Text 32"/>
          <p:cNvSpPr/>
          <p:nvPr/>
        </p:nvSpPr>
        <p:spPr>
          <a:xfrm>
            <a:off x="502920" y="4709160"/>
            <a:ext cx="2377440" cy="777240"/>
          </a:xfrm>
          <a:prstGeom prst="rect">
            <a:avLst/>
          </a:prstGeom>
          <a:noFill/>
          <a:ln/>
        </p:spPr>
        <p:txBody>
          <a:bodyPr wrap="square" lIns="0" tIns="0" rIns="0" bIns="0" rtlCol="0" anchor="ctr"/>
          <a:lstStyle/>
          <a:p>
            <a:pPr indent="0" marL="0">
              <a:buNone/>
            </a:pPr>
            <a:r>
              <a:rPr lang="en-US" sz="1050" dirty="0">
                <a:solidFill>
                  <a:srgbClr val="A8BBCC"/>
                </a:solidFill>
                <a:latin typeface="Calibri" pitchFamily="34" charset="0"/>
                <a:ea typeface="Calibri" pitchFamily="34" charset="-122"/>
                <a:cs typeface="Calibri" pitchFamily="34" charset="-120"/>
              </a:rPr>
              <a:t>Blob storage I/O</a:t>
            </a:r>
            <a:endParaRPr lang="en-US" sz="1050" dirty="0"/>
          </a:p>
          <a:p>
            <a:pPr indent="0" marL="0">
              <a:buNone/>
            </a:pPr>
            <a:r>
              <a:rPr lang="en-US" sz="1050" dirty="0">
                <a:solidFill>
                  <a:srgbClr val="A8BBCC"/>
                </a:solidFill>
                <a:latin typeface="Calibri" pitchFamily="34" charset="0"/>
                <a:ea typeface="Calibri" pitchFamily="34" charset="-122"/>
                <a:cs typeface="Calibri" pitchFamily="34" charset="-120"/>
              </a:rPr>
              <a:t>Entra ID validation</a:t>
            </a:r>
            <a:endParaRPr lang="en-US" sz="1050" dirty="0"/>
          </a:p>
        </p:txBody>
      </p:sp>
      <p:sp>
        <p:nvSpPr>
          <p:cNvPr id="35" name="Shape 33"/>
          <p:cNvSpPr/>
          <p:nvPr/>
        </p:nvSpPr>
        <p:spPr>
          <a:xfrm>
            <a:off x="3246120" y="4160520"/>
            <a:ext cx="2651760" cy="1554480"/>
          </a:xfrm>
          <a:prstGeom prst="roundRect">
            <a:avLst>
              <a:gd name="adj" fmla="val 7059"/>
            </a:avLst>
          </a:prstGeom>
          <a:solidFill>
            <a:srgbClr val="1A2E4A"/>
          </a:solidFill>
          <a:ln w="12700">
            <a:solidFill>
              <a:srgbClr val="1A3A5C"/>
            </a:solidFill>
            <a:prstDash val="solid"/>
          </a:ln>
          <a:effectLst>
            <a:outerShdw sx="100000" sy="100000" kx="0" ky="0" algn="bl" rotWithShape="0" blurRad="76200" dist="25400" dir="2700000">
              <a:srgbClr val="000000">
                <a:alpha val="18000"/>
              </a:srgbClr>
            </a:outerShdw>
          </a:effectLst>
        </p:spPr>
      </p:sp>
      <p:sp>
        <p:nvSpPr>
          <p:cNvPr id="36" name="Shape 34"/>
          <p:cNvSpPr/>
          <p:nvPr/>
        </p:nvSpPr>
        <p:spPr>
          <a:xfrm>
            <a:off x="3383280" y="4270248"/>
            <a:ext cx="256032" cy="256032"/>
          </a:xfrm>
          <a:prstGeom prst="roundRect">
            <a:avLst>
              <a:gd name="adj" fmla="val 21429"/>
            </a:avLst>
          </a:prstGeom>
          <a:solidFill>
            <a:srgbClr val="00C8FF"/>
          </a:solidFill>
          <a:ln w="12700">
            <a:solidFill>
              <a:srgbClr val="00C8FF"/>
            </a:solidFill>
            <a:prstDash val="solid"/>
          </a:ln>
        </p:spPr>
      </p:sp>
      <p:sp>
        <p:nvSpPr>
          <p:cNvPr id="37" name="Text 35"/>
          <p:cNvSpPr/>
          <p:nvPr/>
        </p:nvSpPr>
        <p:spPr>
          <a:xfrm>
            <a:off x="3749040" y="4233672"/>
            <a:ext cx="205740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Audit Service</a:t>
            </a:r>
            <a:endParaRPr lang="en-US" sz="1300" dirty="0"/>
          </a:p>
        </p:txBody>
      </p:sp>
      <p:sp>
        <p:nvSpPr>
          <p:cNvPr id="38" name="Text 36"/>
          <p:cNvSpPr/>
          <p:nvPr/>
        </p:nvSpPr>
        <p:spPr>
          <a:xfrm>
            <a:off x="3383280" y="4709160"/>
            <a:ext cx="2377440" cy="777240"/>
          </a:xfrm>
          <a:prstGeom prst="rect">
            <a:avLst/>
          </a:prstGeom>
          <a:noFill/>
          <a:ln/>
        </p:spPr>
        <p:txBody>
          <a:bodyPr wrap="square" lIns="0" tIns="0" rIns="0" bIns="0" rtlCol="0" anchor="ctr"/>
          <a:lstStyle/>
          <a:p>
            <a:pPr indent="0" marL="0">
              <a:buNone/>
            </a:pPr>
            <a:r>
              <a:rPr lang="en-US" sz="1050" dirty="0">
                <a:solidFill>
                  <a:srgbClr val="A8BBCC"/>
                </a:solidFill>
                <a:latin typeface="Calibri" pitchFamily="34" charset="0"/>
                <a:ea typeface="Calibri" pitchFamily="34" charset="-122"/>
                <a:cs typeface="Calibri" pitchFamily="34" charset="-120"/>
              </a:rPr>
              <a:t>Immutable event log</a:t>
            </a:r>
            <a:endParaRPr lang="en-US" sz="1050" dirty="0"/>
          </a:p>
          <a:p>
            <a:pPr indent="0" marL="0">
              <a:buNone/>
            </a:pPr>
            <a:r>
              <a:rPr lang="en-US" sz="1050" dirty="0">
                <a:solidFill>
                  <a:srgbClr val="A8BBCC"/>
                </a:solidFill>
                <a:latin typeface="Calibri" pitchFamily="34" charset="0"/>
                <a:ea typeface="Calibri" pitchFamily="34" charset="-122"/>
                <a:cs typeface="Calibri" pitchFamily="34" charset="-120"/>
              </a:rPr>
              <a:t>Compliance trails</a:t>
            </a:r>
            <a:endParaRPr lang="en-US" sz="1050" dirty="0"/>
          </a:p>
        </p:txBody>
      </p:sp>
      <p:sp>
        <p:nvSpPr>
          <p:cNvPr id="39" name="Shape 37"/>
          <p:cNvSpPr/>
          <p:nvPr/>
        </p:nvSpPr>
        <p:spPr>
          <a:xfrm>
            <a:off x="6126480" y="4160520"/>
            <a:ext cx="2651760" cy="1554480"/>
          </a:xfrm>
          <a:prstGeom prst="roundRect">
            <a:avLst>
              <a:gd name="adj" fmla="val 7059"/>
            </a:avLst>
          </a:prstGeom>
          <a:solidFill>
            <a:srgbClr val="1A2E4A"/>
          </a:solidFill>
          <a:ln w="12700">
            <a:solidFill>
              <a:srgbClr val="1A3A5C"/>
            </a:solidFill>
            <a:prstDash val="solid"/>
          </a:ln>
          <a:effectLst>
            <a:outerShdw sx="100000" sy="100000" kx="0" ky="0" algn="bl" rotWithShape="0" blurRad="76200" dist="25400" dir="2700000">
              <a:srgbClr val="000000">
                <a:alpha val="18000"/>
              </a:srgbClr>
            </a:outerShdw>
          </a:effectLst>
        </p:spPr>
      </p:sp>
      <p:sp>
        <p:nvSpPr>
          <p:cNvPr id="40" name="Shape 38"/>
          <p:cNvSpPr/>
          <p:nvPr/>
        </p:nvSpPr>
        <p:spPr>
          <a:xfrm>
            <a:off x="6263640" y="4270248"/>
            <a:ext cx="256032" cy="256032"/>
          </a:xfrm>
          <a:prstGeom prst="roundRect">
            <a:avLst>
              <a:gd name="adj" fmla="val 21429"/>
            </a:avLst>
          </a:prstGeom>
          <a:solidFill>
            <a:srgbClr val="00C8FF"/>
          </a:solidFill>
          <a:ln w="12700">
            <a:solidFill>
              <a:srgbClr val="00C8FF"/>
            </a:solidFill>
            <a:prstDash val="solid"/>
          </a:ln>
        </p:spPr>
      </p:sp>
      <p:sp>
        <p:nvSpPr>
          <p:cNvPr id="41" name="Text 39"/>
          <p:cNvSpPr/>
          <p:nvPr/>
        </p:nvSpPr>
        <p:spPr>
          <a:xfrm>
            <a:off x="6629400" y="4233672"/>
            <a:ext cx="205740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Admin Service</a:t>
            </a:r>
            <a:endParaRPr lang="en-US" sz="1300" dirty="0"/>
          </a:p>
        </p:txBody>
      </p:sp>
      <p:sp>
        <p:nvSpPr>
          <p:cNvPr id="42" name="Text 40"/>
          <p:cNvSpPr/>
          <p:nvPr/>
        </p:nvSpPr>
        <p:spPr>
          <a:xfrm>
            <a:off x="6263640" y="4709160"/>
            <a:ext cx="2377440" cy="777240"/>
          </a:xfrm>
          <a:prstGeom prst="rect">
            <a:avLst/>
          </a:prstGeom>
          <a:noFill/>
          <a:ln/>
        </p:spPr>
        <p:txBody>
          <a:bodyPr wrap="square" lIns="0" tIns="0" rIns="0" bIns="0" rtlCol="0" anchor="ctr"/>
          <a:lstStyle/>
          <a:p>
            <a:pPr indent="0" marL="0">
              <a:buNone/>
            </a:pPr>
            <a:r>
              <a:rPr lang="en-US" sz="1050" dirty="0">
                <a:solidFill>
                  <a:srgbClr val="A8BBCC"/>
                </a:solidFill>
                <a:latin typeface="Calibri" pitchFamily="34" charset="0"/>
                <a:ea typeface="Calibri" pitchFamily="34" charset="-122"/>
                <a:cs typeface="Calibri" pitchFamily="34" charset="-120"/>
              </a:rPr>
              <a:t>User &amp; config mgmt</a:t>
            </a:r>
            <a:endParaRPr lang="en-US" sz="1050" dirty="0"/>
          </a:p>
          <a:p>
            <a:pPr indent="0" marL="0">
              <a:buNone/>
            </a:pPr>
            <a:r>
              <a:rPr lang="en-US" sz="1050" dirty="0">
                <a:solidFill>
                  <a:srgbClr val="A8BBCC"/>
                </a:solidFill>
                <a:latin typeface="Calibri" pitchFamily="34" charset="0"/>
                <a:ea typeface="Calibri" pitchFamily="34" charset="-122"/>
                <a:cs typeface="Calibri" pitchFamily="34" charset="-120"/>
              </a:rPr>
              <a:t>Role-based access</a:t>
            </a:r>
            <a:endParaRPr lang="en-US" sz="1050" dirty="0"/>
          </a:p>
        </p:txBody>
      </p:sp>
      <p:sp>
        <p:nvSpPr>
          <p:cNvPr id="43" name="Shape 41"/>
          <p:cNvSpPr/>
          <p:nvPr/>
        </p:nvSpPr>
        <p:spPr>
          <a:xfrm>
            <a:off x="9006840" y="4160520"/>
            <a:ext cx="2651760" cy="1554480"/>
          </a:xfrm>
          <a:prstGeom prst="roundRect">
            <a:avLst>
              <a:gd name="adj" fmla="val 7059"/>
            </a:avLst>
          </a:prstGeom>
          <a:solidFill>
            <a:srgbClr val="1A2E4A"/>
          </a:solidFill>
          <a:ln w="12700">
            <a:solidFill>
              <a:srgbClr val="1A3A5C"/>
            </a:solidFill>
            <a:prstDash val="solid"/>
          </a:ln>
          <a:effectLst>
            <a:outerShdw sx="100000" sy="100000" kx="0" ky="0" algn="bl" rotWithShape="0" blurRad="76200" dist="25400" dir="2700000">
              <a:srgbClr val="000000">
                <a:alpha val="18000"/>
              </a:srgbClr>
            </a:outerShdw>
          </a:effectLst>
        </p:spPr>
      </p:sp>
      <p:sp>
        <p:nvSpPr>
          <p:cNvPr id="44" name="Shape 42"/>
          <p:cNvSpPr/>
          <p:nvPr/>
        </p:nvSpPr>
        <p:spPr>
          <a:xfrm>
            <a:off x="9144000" y="4270248"/>
            <a:ext cx="256032" cy="256032"/>
          </a:xfrm>
          <a:prstGeom prst="roundRect">
            <a:avLst>
              <a:gd name="adj" fmla="val 21429"/>
            </a:avLst>
          </a:prstGeom>
          <a:solidFill>
            <a:srgbClr val="00C8FF"/>
          </a:solidFill>
          <a:ln w="12700">
            <a:solidFill>
              <a:srgbClr val="00C8FF"/>
            </a:solidFill>
            <a:prstDash val="solid"/>
          </a:ln>
        </p:spPr>
      </p:sp>
      <p:sp>
        <p:nvSpPr>
          <p:cNvPr id="45" name="Text 43"/>
          <p:cNvSpPr/>
          <p:nvPr/>
        </p:nvSpPr>
        <p:spPr>
          <a:xfrm>
            <a:off x="9509760" y="4233672"/>
            <a:ext cx="205740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Notification (Bus)</a:t>
            </a:r>
            <a:endParaRPr lang="en-US" sz="1300" dirty="0"/>
          </a:p>
        </p:txBody>
      </p:sp>
      <p:sp>
        <p:nvSpPr>
          <p:cNvPr id="46" name="Text 44"/>
          <p:cNvSpPr/>
          <p:nvPr/>
        </p:nvSpPr>
        <p:spPr>
          <a:xfrm>
            <a:off x="9144000" y="4709160"/>
            <a:ext cx="2377440" cy="777240"/>
          </a:xfrm>
          <a:prstGeom prst="rect">
            <a:avLst/>
          </a:prstGeom>
          <a:noFill/>
          <a:ln/>
        </p:spPr>
        <p:txBody>
          <a:bodyPr wrap="square" lIns="0" tIns="0" rIns="0" bIns="0" rtlCol="0" anchor="ctr"/>
          <a:lstStyle/>
          <a:p>
            <a:pPr indent="0" marL="0">
              <a:buNone/>
            </a:pPr>
            <a:r>
              <a:rPr lang="en-US" sz="1050" dirty="0">
                <a:solidFill>
                  <a:srgbClr val="A8BBCC"/>
                </a:solidFill>
                <a:latin typeface="Calibri" pitchFamily="34" charset="0"/>
                <a:ea typeface="Calibri" pitchFamily="34" charset="-122"/>
                <a:cs typeface="Calibri" pitchFamily="34" charset="-120"/>
              </a:rPr>
              <a:t>Service Bus events</a:t>
            </a:r>
            <a:endParaRPr lang="en-US" sz="1050" dirty="0"/>
          </a:p>
          <a:p>
            <a:pPr indent="0" marL="0">
              <a:buNone/>
            </a:pPr>
            <a:r>
              <a:rPr lang="en-US" sz="1050" dirty="0">
                <a:solidFill>
                  <a:srgbClr val="A8BBCC"/>
                </a:solidFill>
                <a:latin typeface="Calibri" pitchFamily="34" charset="0"/>
                <a:ea typeface="Calibri" pitchFamily="34" charset="-122"/>
                <a:cs typeface="Calibri" pitchFamily="34" charset="-120"/>
              </a:rPr>
              <a:t>Async email/SMS</a:t>
            </a:r>
            <a:endParaRPr lang="en-US" sz="1050" dirty="0"/>
          </a:p>
        </p:txBody>
      </p:sp>
      <p:sp>
        <p:nvSpPr>
          <p:cNvPr id="47" name="Text 45"/>
          <p:cNvSpPr/>
          <p:nvPr/>
        </p:nvSpPr>
        <p:spPr>
          <a:xfrm>
            <a:off x="457200" y="6080760"/>
            <a:ext cx="1371600" cy="384048"/>
          </a:xfrm>
          <a:prstGeom prst="rect">
            <a:avLst/>
          </a:prstGeom>
          <a:noFill/>
          <a:ln/>
        </p:spPr>
        <p:txBody>
          <a:bodyPr wrap="square" lIns="0" tIns="0" rIns="0" bIns="0" rtlCol="0" anchor="ctr"/>
          <a:lstStyle/>
          <a:p>
            <a:pPr indent="0" marL="0">
              <a:buNone/>
            </a:pPr>
            <a:r>
              <a:rPr lang="en-US" sz="1100" b="1" dirty="0">
                <a:solidFill>
                  <a:srgbClr val="5A7A9A"/>
                </a:solidFill>
                <a:latin typeface="Calibri" pitchFamily="34" charset="0"/>
                <a:ea typeface="Calibri" pitchFamily="34" charset="-122"/>
                <a:cs typeface="Calibri" pitchFamily="34" charset="-120"/>
              </a:rPr>
              <a:t>Tech Stack:</a:t>
            </a:r>
            <a:endParaRPr lang="en-US" sz="1100" dirty="0"/>
          </a:p>
        </p:txBody>
      </p:sp>
      <p:sp>
        <p:nvSpPr>
          <p:cNvPr id="48" name="Shape 46"/>
          <p:cNvSpPr/>
          <p:nvPr/>
        </p:nvSpPr>
        <p:spPr>
          <a:xfrm>
            <a:off x="1737360" y="6080760"/>
            <a:ext cx="1554480" cy="384048"/>
          </a:xfrm>
          <a:prstGeom prst="roundRect">
            <a:avLst>
              <a:gd name="adj" fmla="val 23810"/>
            </a:avLst>
          </a:prstGeom>
          <a:solidFill>
            <a:srgbClr val="0D2040"/>
          </a:solidFill>
          <a:ln w="12700">
            <a:solidFill>
              <a:srgbClr val="1A3A5C"/>
            </a:solidFill>
            <a:prstDash val="solid"/>
          </a:ln>
        </p:spPr>
      </p:sp>
      <p:sp>
        <p:nvSpPr>
          <p:cNvPr id="49" name="Text 47"/>
          <p:cNvSpPr/>
          <p:nvPr/>
        </p:nvSpPr>
        <p:spPr>
          <a:xfrm>
            <a:off x="1737360" y="6080760"/>
            <a:ext cx="1554480" cy="384048"/>
          </a:xfrm>
          <a:prstGeom prst="rect">
            <a:avLst/>
          </a:prstGeom>
          <a:noFill/>
          <a:ln/>
        </p:spPr>
        <p:txBody>
          <a:bodyPr wrap="square" lIns="0" tIns="0" rIns="0" bIns="0" rtlCol="0" anchor="ctr"/>
          <a:lstStyle/>
          <a:p>
            <a:pPr algn="ctr" indent="0" marL="0">
              <a:buNone/>
            </a:pPr>
            <a:r>
              <a:rPr lang="en-US" sz="1000" dirty="0">
                <a:solidFill>
                  <a:srgbClr val="00C8FF"/>
                </a:solidFill>
                <a:latin typeface="Calibri" pitchFamily="34" charset="0"/>
                <a:ea typeface="Calibri" pitchFamily="34" charset="-122"/>
                <a:cs typeface="Calibri" pitchFamily="34" charset="-120"/>
              </a:rPr>
              <a:t>Node.js</a:t>
            </a:r>
            <a:endParaRPr lang="en-US" sz="1000" dirty="0"/>
          </a:p>
        </p:txBody>
      </p:sp>
      <p:sp>
        <p:nvSpPr>
          <p:cNvPr id="50" name="Shape 48"/>
          <p:cNvSpPr/>
          <p:nvPr/>
        </p:nvSpPr>
        <p:spPr>
          <a:xfrm>
            <a:off x="3429000" y="6080760"/>
            <a:ext cx="1554480" cy="384048"/>
          </a:xfrm>
          <a:prstGeom prst="roundRect">
            <a:avLst>
              <a:gd name="adj" fmla="val 23810"/>
            </a:avLst>
          </a:prstGeom>
          <a:solidFill>
            <a:srgbClr val="0D2040"/>
          </a:solidFill>
          <a:ln w="12700">
            <a:solidFill>
              <a:srgbClr val="1A3A5C"/>
            </a:solidFill>
            <a:prstDash val="solid"/>
          </a:ln>
        </p:spPr>
      </p:sp>
      <p:sp>
        <p:nvSpPr>
          <p:cNvPr id="51" name="Text 49"/>
          <p:cNvSpPr/>
          <p:nvPr/>
        </p:nvSpPr>
        <p:spPr>
          <a:xfrm>
            <a:off x="3429000" y="6080760"/>
            <a:ext cx="1554480" cy="384048"/>
          </a:xfrm>
          <a:prstGeom prst="rect">
            <a:avLst/>
          </a:prstGeom>
          <a:noFill/>
          <a:ln/>
        </p:spPr>
        <p:txBody>
          <a:bodyPr wrap="square" lIns="0" tIns="0" rIns="0" bIns="0" rtlCol="0" anchor="ctr"/>
          <a:lstStyle/>
          <a:p>
            <a:pPr algn="ctr" indent="0" marL="0">
              <a:buNone/>
            </a:pPr>
            <a:r>
              <a:rPr lang="en-US" sz="1000" dirty="0">
                <a:solidFill>
                  <a:srgbClr val="00C8FF"/>
                </a:solidFill>
                <a:latin typeface="Calibri" pitchFamily="34" charset="0"/>
                <a:ea typeface="Calibri" pitchFamily="34" charset="-122"/>
                <a:cs typeface="Calibri" pitchFamily="34" charset="-120"/>
              </a:rPr>
              <a:t>Express</a:t>
            </a:r>
            <a:endParaRPr lang="en-US" sz="1000" dirty="0"/>
          </a:p>
        </p:txBody>
      </p:sp>
      <p:sp>
        <p:nvSpPr>
          <p:cNvPr id="52" name="Shape 50"/>
          <p:cNvSpPr/>
          <p:nvPr/>
        </p:nvSpPr>
        <p:spPr>
          <a:xfrm>
            <a:off x="5120640" y="6080760"/>
            <a:ext cx="1554480" cy="384048"/>
          </a:xfrm>
          <a:prstGeom prst="roundRect">
            <a:avLst>
              <a:gd name="adj" fmla="val 23810"/>
            </a:avLst>
          </a:prstGeom>
          <a:solidFill>
            <a:srgbClr val="0D2040"/>
          </a:solidFill>
          <a:ln w="12700">
            <a:solidFill>
              <a:srgbClr val="1A3A5C"/>
            </a:solidFill>
            <a:prstDash val="solid"/>
          </a:ln>
        </p:spPr>
      </p:sp>
      <p:sp>
        <p:nvSpPr>
          <p:cNvPr id="53" name="Text 51"/>
          <p:cNvSpPr/>
          <p:nvPr/>
        </p:nvSpPr>
        <p:spPr>
          <a:xfrm>
            <a:off x="5120640" y="6080760"/>
            <a:ext cx="1554480" cy="384048"/>
          </a:xfrm>
          <a:prstGeom prst="rect">
            <a:avLst/>
          </a:prstGeom>
          <a:noFill/>
          <a:ln/>
        </p:spPr>
        <p:txBody>
          <a:bodyPr wrap="square" lIns="0" tIns="0" rIns="0" bIns="0" rtlCol="0" anchor="ctr"/>
          <a:lstStyle/>
          <a:p>
            <a:pPr algn="ctr" indent="0" marL="0">
              <a:buNone/>
            </a:pPr>
            <a:r>
              <a:rPr lang="en-US" sz="1000" dirty="0">
                <a:solidFill>
                  <a:srgbClr val="00C8FF"/>
                </a:solidFill>
                <a:latin typeface="Calibri" pitchFamily="34" charset="0"/>
                <a:ea typeface="Calibri" pitchFamily="34" charset="-122"/>
                <a:cs typeface="Calibri" pitchFamily="34" charset="-120"/>
              </a:rPr>
              <a:t>PostgreSQL</a:t>
            </a:r>
            <a:endParaRPr lang="en-US" sz="1000" dirty="0"/>
          </a:p>
        </p:txBody>
      </p:sp>
      <p:sp>
        <p:nvSpPr>
          <p:cNvPr id="54" name="Shape 52"/>
          <p:cNvSpPr/>
          <p:nvPr/>
        </p:nvSpPr>
        <p:spPr>
          <a:xfrm>
            <a:off x="6812280" y="6080760"/>
            <a:ext cx="1554480" cy="384048"/>
          </a:xfrm>
          <a:prstGeom prst="roundRect">
            <a:avLst>
              <a:gd name="adj" fmla="val 23810"/>
            </a:avLst>
          </a:prstGeom>
          <a:solidFill>
            <a:srgbClr val="0D2040"/>
          </a:solidFill>
          <a:ln w="12700">
            <a:solidFill>
              <a:srgbClr val="1A3A5C"/>
            </a:solidFill>
            <a:prstDash val="solid"/>
          </a:ln>
        </p:spPr>
      </p:sp>
      <p:sp>
        <p:nvSpPr>
          <p:cNvPr id="55" name="Text 53"/>
          <p:cNvSpPr/>
          <p:nvPr/>
        </p:nvSpPr>
        <p:spPr>
          <a:xfrm>
            <a:off x="6812280" y="6080760"/>
            <a:ext cx="1554480" cy="384048"/>
          </a:xfrm>
          <a:prstGeom prst="rect">
            <a:avLst/>
          </a:prstGeom>
          <a:noFill/>
          <a:ln/>
        </p:spPr>
        <p:txBody>
          <a:bodyPr wrap="square" lIns="0" tIns="0" rIns="0" bIns="0" rtlCol="0" anchor="ctr"/>
          <a:lstStyle/>
          <a:p>
            <a:pPr algn="ctr" indent="0" marL="0">
              <a:buNone/>
            </a:pPr>
            <a:r>
              <a:rPr lang="en-US" sz="1000" dirty="0">
                <a:solidFill>
                  <a:srgbClr val="00C8FF"/>
                </a:solidFill>
                <a:latin typeface="Calibri" pitchFamily="34" charset="0"/>
                <a:ea typeface="Calibri" pitchFamily="34" charset="-122"/>
                <a:cs typeface="Calibri" pitchFamily="34" charset="-120"/>
              </a:rPr>
              <a:t>Azure Service Bus</a:t>
            </a:r>
            <a:endParaRPr lang="en-US" sz="1000" dirty="0"/>
          </a:p>
        </p:txBody>
      </p:sp>
      <p:sp>
        <p:nvSpPr>
          <p:cNvPr id="56" name="Shape 54"/>
          <p:cNvSpPr/>
          <p:nvPr/>
        </p:nvSpPr>
        <p:spPr>
          <a:xfrm>
            <a:off x="8503920" y="6080760"/>
            <a:ext cx="1554480" cy="384048"/>
          </a:xfrm>
          <a:prstGeom prst="roundRect">
            <a:avLst>
              <a:gd name="adj" fmla="val 23810"/>
            </a:avLst>
          </a:prstGeom>
          <a:solidFill>
            <a:srgbClr val="0D2040"/>
          </a:solidFill>
          <a:ln w="12700">
            <a:solidFill>
              <a:srgbClr val="1A3A5C"/>
            </a:solidFill>
            <a:prstDash val="solid"/>
          </a:ln>
        </p:spPr>
      </p:sp>
      <p:sp>
        <p:nvSpPr>
          <p:cNvPr id="57" name="Text 55"/>
          <p:cNvSpPr/>
          <p:nvPr/>
        </p:nvSpPr>
        <p:spPr>
          <a:xfrm>
            <a:off x="8503920" y="6080760"/>
            <a:ext cx="1554480" cy="384048"/>
          </a:xfrm>
          <a:prstGeom prst="rect">
            <a:avLst/>
          </a:prstGeom>
          <a:noFill/>
          <a:ln/>
        </p:spPr>
        <p:txBody>
          <a:bodyPr wrap="square" lIns="0" tIns="0" rIns="0" bIns="0" rtlCol="0" anchor="ctr"/>
          <a:lstStyle/>
          <a:p>
            <a:pPr algn="ctr" indent="0" marL="0">
              <a:buNone/>
            </a:pPr>
            <a:r>
              <a:rPr lang="en-US" sz="1000" dirty="0">
                <a:solidFill>
                  <a:srgbClr val="00C8FF"/>
                </a:solidFill>
                <a:latin typeface="Calibri" pitchFamily="34" charset="0"/>
                <a:ea typeface="Calibri" pitchFamily="34" charset="-122"/>
                <a:cs typeface="Calibri" pitchFamily="34" charset="-120"/>
              </a:rPr>
              <a:t>Docker</a:t>
            </a:r>
            <a:endParaRPr lang="en-US" sz="1000" dirty="0"/>
          </a:p>
        </p:txBody>
      </p:sp>
      <p:sp>
        <p:nvSpPr>
          <p:cNvPr id="58" name="Shape 56"/>
          <p:cNvSpPr/>
          <p:nvPr/>
        </p:nvSpPr>
        <p:spPr>
          <a:xfrm>
            <a:off x="10195560" y="6080760"/>
            <a:ext cx="1554480" cy="384048"/>
          </a:xfrm>
          <a:prstGeom prst="roundRect">
            <a:avLst>
              <a:gd name="adj" fmla="val 23810"/>
            </a:avLst>
          </a:prstGeom>
          <a:solidFill>
            <a:srgbClr val="0D2040"/>
          </a:solidFill>
          <a:ln w="12700">
            <a:solidFill>
              <a:srgbClr val="1A3A5C"/>
            </a:solidFill>
            <a:prstDash val="solid"/>
          </a:ln>
        </p:spPr>
      </p:sp>
      <p:sp>
        <p:nvSpPr>
          <p:cNvPr id="59" name="Text 57"/>
          <p:cNvSpPr/>
          <p:nvPr/>
        </p:nvSpPr>
        <p:spPr>
          <a:xfrm>
            <a:off x="10195560" y="6080760"/>
            <a:ext cx="1554480" cy="384048"/>
          </a:xfrm>
          <a:prstGeom prst="rect">
            <a:avLst/>
          </a:prstGeom>
          <a:noFill/>
          <a:ln/>
        </p:spPr>
        <p:txBody>
          <a:bodyPr wrap="square" lIns="0" tIns="0" rIns="0" bIns="0" rtlCol="0" anchor="ctr"/>
          <a:lstStyle/>
          <a:p>
            <a:pPr algn="ctr" indent="0" marL="0">
              <a:buNone/>
            </a:pPr>
            <a:r>
              <a:rPr lang="en-US" sz="1000" dirty="0">
                <a:solidFill>
                  <a:srgbClr val="00C8FF"/>
                </a:solidFill>
                <a:latin typeface="Calibri" pitchFamily="34" charset="0"/>
                <a:ea typeface="Calibri" pitchFamily="34" charset="-122"/>
                <a:cs typeface="Calibri" pitchFamily="34" charset="-120"/>
              </a:rPr>
              <a:t>AKS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2040"/>
          </a:solidFill>
          <a:ln w="12700">
            <a:solidFill>
              <a:srgbClr val="0D2040"/>
            </a:solidFill>
            <a:prstDash val="solid"/>
          </a:ln>
        </p:spPr>
      </p:sp>
      <p:sp>
        <p:nvSpPr>
          <p:cNvPr id="3" name="Shape 1"/>
          <p:cNvSpPr/>
          <p:nvPr/>
        </p:nvSpPr>
        <p:spPr>
          <a:xfrm>
            <a:off x="228600" y="137160"/>
            <a:ext cx="384048" cy="384048"/>
          </a:xfrm>
          <a:prstGeom prst="ellipse">
            <a:avLst/>
          </a:prstGeom>
          <a:solidFill>
            <a:srgbClr val="00C8FF">
              <a:alpha val="80000"/>
            </a:srgbClr>
          </a:solidFill>
          <a:ln w="12700">
            <a:solidFill>
              <a:srgbClr val="00C8FF"/>
            </a:solidFill>
            <a:prstDash val="solid"/>
          </a:ln>
        </p:spPr>
      </p:sp>
      <p:sp>
        <p:nvSpPr>
          <p:cNvPr id="4" name="Shape 2"/>
          <p:cNvSpPr/>
          <p:nvPr/>
        </p:nvSpPr>
        <p:spPr>
          <a:xfrm>
            <a:off x="502920" y="256032"/>
            <a:ext cx="164592" cy="164592"/>
          </a:xfrm>
          <a:prstGeom prst="ellipse">
            <a:avLst/>
          </a:prstGeom>
          <a:solidFill>
            <a:srgbClr val="00C8FF">
              <a:alpha val="60000"/>
            </a:srgbClr>
          </a:solidFill>
          <a:ln w="12700">
            <a:solidFill>
              <a:srgbClr val="00C8FF"/>
            </a:solidFill>
            <a:prstDash val="solid"/>
          </a:ln>
        </p:spPr>
      </p:sp>
      <p:sp>
        <p:nvSpPr>
          <p:cNvPr id="5" name="Text 3"/>
          <p:cNvSpPr/>
          <p:nvPr/>
        </p:nvSpPr>
        <p:spPr>
          <a:xfrm>
            <a:off x="777240" y="73152"/>
            <a:ext cx="6858000" cy="50292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Cloud Infrastructure</a:t>
            </a:r>
            <a:endParaRPr lang="en-US" sz="2200" dirty="0"/>
          </a:p>
        </p:txBody>
      </p:sp>
      <p:sp>
        <p:nvSpPr>
          <p:cNvPr id="6" name="Text 4"/>
          <p:cNvSpPr/>
          <p:nvPr/>
        </p:nvSpPr>
        <p:spPr>
          <a:xfrm>
            <a:off x="777240" y="73152"/>
            <a:ext cx="6858000" cy="502920"/>
          </a:xfrm>
          <a:prstGeom prst="rect">
            <a:avLst/>
          </a:prstGeom>
          <a:noFill/>
          <a:ln/>
        </p:spPr>
        <p:txBody>
          <a:bodyPr wrap="square" lIns="0" tIns="0" rIns="0" bIns="0" rtlCol="0" anchor="ctr"/>
          <a:lstStyle/>
          <a:p>
            <a:pPr algn="r" indent="0" marL="0">
              <a:buNone/>
            </a:pPr>
            <a:r>
              <a:rPr lang="en-US" sz="1300" dirty="0">
                <a:solidFill>
                  <a:srgbClr val="00C8FF"/>
                </a:solidFill>
                <a:latin typeface="Calibri" pitchFamily="34" charset="0"/>
                <a:ea typeface="Calibri" pitchFamily="34" charset="-122"/>
                <a:cs typeface="Calibri" pitchFamily="34" charset="-120"/>
              </a:rPr>
              <a:t>Compute, Networking &amp; AKS Design</a:t>
            </a:r>
            <a:endParaRPr lang="en-US" sz="1300" dirty="0"/>
          </a:p>
        </p:txBody>
      </p:sp>
      <p:sp>
        <p:nvSpPr>
          <p:cNvPr id="7" name="Shape 5"/>
          <p:cNvSpPr/>
          <p:nvPr/>
        </p:nvSpPr>
        <p:spPr>
          <a:xfrm>
            <a:off x="8412480" y="109728"/>
            <a:ext cx="548640" cy="438912"/>
          </a:xfrm>
          <a:prstGeom prst="roundRect">
            <a:avLst>
              <a:gd name="adj" fmla="val 16667"/>
            </a:avLst>
          </a:prstGeom>
          <a:solidFill>
            <a:srgbClr val="00C8FF"/>
          </a:solidFill>
          <a:ln w="12700">
            <a:solidFill>
              <a:srgbClr val="00C8FF"/>
            </a:solidFill>
            <a:prstDash val="solid"/>
          </a:ln>
        </p:spPr>
      </p:sp>
      <p:sp>
        <p:nvSpPr>
          <p:cNvPr id="8" name="Shape 6"/>
          <p:cNvSpPr/>
          <p:nvPr/>
        </p:nvSpPr>
        <p:spPr>
          <a:xfrm>
            <a:off x="365760" y="914400"/>
            <a:ext cx="4114800" cy="1143000"/>
          </a:xfrm>
          <a:prstGeom prst="roundRect">
            <a:avLst>
              <a:gd name="adj" fmla="val 9600"/>
            </a:avLst>
          </a:prstGeom>
          <a:solidFill>
            <a:srgbClr val="112347"/>
          </a:solidFill>
          <a:ln w="12700">
            <a:solidFill>
              <a:srgbClr val="1A3A5C"/>
            </a:solidFill>
            <a:prstDash val="solid"/>
          </a:ln>
          <a:effectLst>
            <a:outerShdw sx="100000" sy="100000" kx="0" ky="0" algn="bl" rotWithShape="0" blurRad="76200" dist="25400" dir="2700000">
              <a:srgbClr val="000000">
                <a:alpha val="18000"/>
              </a:srgbClr>
            </a:outerShdw>
          </a:effectLst>
        </p:spPr>
      </p:sp>
      <p:pic>
        <p:nvPicPr>
          <p:cNvPr id="9" name="Image 0" descr="preencoded.png">    </p:cNvPr>
          <p:cNvPicPr>
            <a:picLocks noChangeAspect="1"/>
          </p:cNvPicPr>
          <p:nvPr/>
        </p:nvPicPr>
        <p:blipFill>
          <a:blip r:embed="rId1"/>
          <a:stretch>
            <a:fillRect/>
          </a:stretch>
        </p:blipFill>
        <p:spPr>
          <a:xfrm>
            <a:off x="594360" y="1234440"/>
            <a:ext cx="384048" cy="384048"/>
          </a:xfrm>
          <a:prstGeom prst="rect">
            <a:avLst/>
          </a:prstGeom>
        </p:spPr>
      </p:pic>
      <p:sp>
        <p:nvSpPr>
          <p:cNvPr id="10" name="Text 7"/>
          <p:cNvSpPr/>
          <p:nvPr/>
        </p:nvSpPr>
        <p:spPr>
          <a:xfrm>
            <a:off x="1143000" y="1005840"/>
            <a:ext cx="315468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AKS Cluster</a:t>
            </a:r>
            <a:endParaRPr lang="en-US" sz="1300" dirty="0"/>
          </a:p>
        </p:txBody>
      </p:sp>
      <p:sp>
        <p:nvSpPr>
          <p:cNvPr id="11" name="Text 8"/>
          <p:cNvSpPr/>
          <p:nvPr/>
        </p:nvSpPr>
        <p:spPr>
          <a:xfrm>
            <a:off x="1143000" y="1371600"/>
            <a:ext cx="3154680" cy="566928"/>
          </a:xfrm>
          <a:prstGeom prst="rect">
            <a:avLst/>
          </a:prstGeom>
          <a:noFill/>
          <a:ln/>
        </p:spPr>
        <p:txBody>
          <a:bodyPr wrap="square" lIns="0" tIns="0" rIns="0" bIns="0" rtlCol="0" anchor="ctr"/>
          <a:lstStyle/>
          <a:p>
            <a:pPr indent="0" marL="0">
              <a:buNone/>
            </a:pPr>
            <a:r>
              <a:rPr lang="en-US" sz="1050" dirty="0">
                <a:solidFill>
                  <a:srgbClr val="A8BBCC"/>
                </a:solidFill>
                <a:latin typeface="Calibri" pitchFamily="34" charset="0"/>
                <a:ea typeface="Calibri" pitchFamily="34" charset="-122"/>
                <a:cs typeface="Calibri" pitchFamily="34" charset="-120"/>
              </a:rPr>
              <a:t>apex-bank-cluster-dev</a:t>
            </a:r>
            <a:endParaRPr lang="en-US" sz="1050" dirty="0"/>
          </a:p>
          <a:p>
            <a:pPr indent="0" marL="0">
              <a:buNone/>
            </a:pPr>
            <a:r>
              <a:rPr lang="en-US" sz="1050" dirty="0">
                <a:solidFill>
                  <a:srgbClr val="A8BBCC"/>
                </a:solidFill>
                <a:latin typeface="Calibri" pitchFamily="34" charset="0"/>
                <a:ea typeface="Calibri" pitchFamily="34" charset="-122"/>
                <a:cs typeface="Calibri" pitchFamily="34" charset="-120"/>
              </a:rPr>
              <a:t>Managed Kubernetes with auto-scaling node pools</a:t>
            </a:r>
            <a:endParaRPr lang="en-US" sz="1050" dirty="0"/>
          </a:p>
        </p:txBody>
      </p:sp>
      <p:sp>
        <p:nvSpPr>
          <p:cNvPr id="12" name="Shape 9"/>
          <p:cNvSpPr/>
          <p:nvPr/>
        </p:nvSpPr>
        <p:spPr>
          <a:xfrm>
            <a:off x="365760" y="2240280"/>
            <a:ext cx="4114800" cy="1143000"/>
          </a:xfrm>
          <a:prstGeom prst="roundRect">
            <a:avLst>
              <a:gd name="adj" fmla="val 9600"/>
            </a:avLst>
          </a:prstGeom>
          <a:solidFill>
            <a:srgbClr val="112347"/>
          </a:solidFill>
          <a:ln w="12700">
            <a:solidFill>
              <a:srgbClr val="1A3A5C"/>
            </a:solidFill>
            <a:prstDash val="solid"/>
          </a:ln>
          <a:effectLst>
            <a:outerShdw sx="100000" sy="100000" kx="0" ky="0" algn="bl" rotWithShape="0" blurRad="76200" dist="25400" dir="2700000">
              <a:srgbClr val="000000">
                <a:alpha val="18000"/>
              </a:srgbClr>
            </a:outerShdw>
          </a:effectLst>
        </p:spPr>
      </p:sp>
      <p:pic>
        <p:nvPicPr>
          <p:cNvPr id="13" name="Image 1" descr="preencoded.png">    </p:cNvPr>
          <p:cNvPicPr>
            <a:picLocks noChangeAspect="1"/>
          </p:cNvPicPr>
          <p:nvPr/>
        </p:nvPicPr>
        <p:blipFill>
          <a:blip r:embed="rId2"/>
          <a:stretch>
            <a:fillRect/>
          </a:stretch>
        </p:blipFill>
        <p:spPr>
          <a:xfrm>
            <a:off x="594360" y="2560320"/>
            <a:ext cx="384048" cy="384048"/>
          </a:xfrm>
          <a:prstGeom prst="rect">
            <a:avLst/>
          </a:prstGeom>
        </p:spPr>
      </p:pic>
      <p:sp>
        <p:nvSpPr>
          <p:cNvPr id="14" name="Text 10"/>
          <p:cNvSpPr/>
          <p:nvPr/>
        </p:nvSpPr>
        <p:spPr>
          <a:xfrm>
            <a:off x="1143000" y="2331720"/>
            <a:ext cx="315468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Virtual Network</a:t>
            </a:r>
            <a:endParaRPr lang="en-US" sz="1300" dirty="0"/>
          </a:p>
        </p:txBody>
      </p:sp>
      <p:sp>
        <p:nvSpPr>
          <p:cNvPr id="15" name="Text 11"/>
          <p:cNvSpPr/>
          <p:nvPr/>
        </p:nvSpPr>
        <p:spPr>
          <a:xfrm>
            <a:off x="1143000" y="2697480"/>
            <a:ext cx="3154680" cy="566928"/>
          </a:xfrm>
          <a:prstGeom prst="rect">
            <a:avLst/>
          </a:prstGeom>
          <a:noFill/>
          <a:ln/>
        </p:spPr>
        <p:txBody>
          <a:bodyPr wrap="square" lIns="0" tIns="0" rIns="0" bIns="0" rtlCol="0" anchor="ctr"/>
          <a:lstStyle/>
          <a:p>
            <a:pPr indent="0" marL="0">
              <a:buNone/>
            </a:pPr>
            <a:r>
              <a:rPr lang="en-US" sz="1050" dirty="0">
                <a:solidFill>
                  <a:srgbClr val="A8BBCC"/>
                </a:solidFill>
                <a:latin typeface="Calibri" pitchFamily="34" charset="0"/>
                <a:ea typeface="Calibri" pitchFamily="34" charset="-122"/>
                <a:cs typeface="Calibri" pitchFamily="34" charset="-120"/>
              </a:rPr>
              <a:t>apex-bank-vnet  |  172.16.0.0/24</a:t>
            </a:r>
            <a:endParaRPr lang="en-US" sz="1050" dirty="0"/>
          </a:p>
          <a:p>
            <a:pPr indent="0" marL="0">
              <a:buNone/>
            </a:pPr>
            <a:r>
              <a:rPr lang="en-US" sz="1050" dirty="0">
                <a:solidFill>
                  <a:srgbClr val="A8BBCC"/>
                </a:solidFill>
                <a:latin typeface="Calibri" pitchFamily="34" charset="0"/>
                <a:ea typeface="Calibri" pitchFamily="34" charset="-122"/>
                <a:cs typeface="Calibri" pitchFamily="34" charset="-120"/>
              </a:rPr>
              <a:t>Four isolated subnets for defense-in-depth</a:t>
            </a:r>
            <a:endParaRPr lang="en-US" sz="1050" dirty="0"/>
          </a:p>
        </p:txBody>
      </p:sp>
      <p:sp>
        <p:nvSpPr>
          <p:cNvPr id="16" name="Shape 12"/>
          <p:cNvSpPr/>
          <p:nvPr/>
        </p:nvSpPr>
        <p:spPr>
          <a:xfrm>
            <a:off x="365760" y="3566160"/>
            <a:ext cx="4114800" cy="1143000"/>
          </a:xfrm>
          <a:prstGeom prst="roundRect">
            <a:avLst>
              <a:gd name="adj" fmla="val 9600"/>
            </a:avLst>
          </a:prstGeom>
          <a:solidFill>
            <a:srgbClr val="112347"/>
          </a:solidFill>
          <a:ln w="12700">
            <a:solidFill>
              <a:srgbClr val="1A3A5C"/>
            </a:solidFill>
            <a:prstDash val="solid"/>
          </a:ln>
          <a:effectLst>
            <a:outerShdw sx="100000" sy="100000" kx="0" ky="0" algn="bl" rotWithShape="0" blurRad="76200" dist="25400" dir="2700000">
              <a:srgbClr val="000000">
                <a:alpha val="18000"/>
              </a:srgbClr>
            </a:outerShdw>
          </a:effectLst>
        </p:spPr>
      </p:sp>
      <p:pic>
        <p:nvPicPr>
          <p:cNvPr id="17" name="Image 2" descr="preencoded.png">    </p:cNvPr>
          <p:cNvPicPr>
            <a:picLocks noChangeAspect="1"/>
          </p:cNvPicPr>
          <p:nvPr/>
        </p:nvPicPr>
        <p:blipFill>
          <a:blip r:embed="rId3"/>
          <a:stretch>
            <a:fillRect/>
          </a:stretch>
        </p:blipFill>
        <p:spPr>
          <a:xfrm>
            <a:off x="594360" y="3886200"/>
            <a:ext cx="384048" cy="384048"/>
          </a:xfrm>
          <a:prstGeom prst="rect">
            <a:avLst/>
          </a:prstGeom>
        </p:spPr>
      </p:pic>
      <p:sp>
        <p:nvSpPr>
          <p:cNvPr id="18" name="Text 13"/>
          <p:cNvSpPr/>
          <p:nvPr/>
        </p:nvSpPr>
        <p:spPr>
          <a:xfrm>
            <a:off x="1143000" y="3657600"/>
            <a:ext cx="315468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Azure Front Door + WAF</a:t>
            </a:r>
            <a:endParaRPr lang="en-US" sz="1300" dirty="0"/>
          </a:p>
        </p:txBody>
      </p:sp>
      <p:sp>
        <p:nvSpPr>
          <p:cNvPr id="19" name="Text 14"/>
          <p:cNvSpPr/>
          <p:nvPr/>
        </p:nvSpPr>
        <p:spPr>
          <a:xfrm>
            <a:off x="1143000" y="4023360"/>
            <a:ext cx="3154680" cy="566928"/>
          </a:xfrm>
          <a:prstGeom prst="rect">
            <a:avLst/>
          </a:prstGeom>
          <a:noFill/>
          <a:ln/>
        </p:spPr>
        <p:txBody>
          <a:bodyPr wrap="square" lIns="0" tIns="0" rIns="0" bIns="0" rtlCol="0" anchor="ctr"/>
          <a:lstStyle/>
          <a:p>
            <a:pPr indent="0" marL="0">
              <a:buNone/>
            </a:pPr>
            <a:r>
              <a:rPr lang="en-US" sz="1050" dirty="0">
                <a:solidFill>
                  <a:srgbClr val="A8BBCC"/>
                </a:solidFill>
                <a:latin typeface="Calibri" pitchFamily="34" charset="0"/>
                <a:ea typeface="Calibri" pitchFamily="34" charset="-122"/>
                <a:cs typeface="Calibri" pitchFamily="34" charset="-120"/>
              </a:rPr>
              <a:t>Global CDN + DDoS protection</a:t>
            </a:r>
            <a:endParaRPr lang="en-US" sz="1050" dirty="0"/>
          </a:p>
          <a:p>
            <a:pPr indent="0" marL="0">
              <a:buNone/>
            </a:pPr>
            <a:r>
              <a:rPr lang="en-US" sz="1050" dirty="0">
                <a:solidFill>
                  <a:srgbClr val="A8BBCC"/>
                </a:solidFill>
                <a:latin typeface="Calibri" pitchFamily="34" charset="0"/>
                <a:ea typeface="Calibri" pitchFamily="34" charset="-122"/>
                <a:cs typeface="Calibri" pitchFamily="34" charset="-120"/>
              </a:rPr>
              <a:t>Layer 7 Web Application Firewall</a:t>
            </a:r>
            <a:endParaRPr lang="en-US" sz="1050" dirty="0"/>
          </a:p>
        </p:txBody>
      </p:sp>
      <p:sp>
        <p:nvSpPr>
          <p:cNvPr id="20" name="Shape 15"/>
          <p:cNvSpPr/>
          <p:nvPr/>
        </p:nvSpPr>
        <p:spPr>
          <a:xfrm>
            <a:off x="365760" y="4892040"/>
            <a:ext cx="4114800" cy="1143000"/>
          </a:xfrm>
          <a:prstGeom prst="roundRect">
            <a:avLst>
              <a:gd name="adj" fmla="val 9600"/>
            </a:avLst>
          </a:prstGeom>
          <a:solidFill>
            <a:srgbClr val="112347"/>
          </a:solidFill>
          <a:ln w="12700">
            <a:solidFill>
              <a:srgbClr val="1A3A5C"/>
            </a:solidFill>
            <a:prstDash val="solid"/>
          </a:ln>
          <a:effectLst>
            <a:outerShdw sx="100000" sy="100000" kx="0" ky="0" algn="bl" rotWithShape="0" blurRad="76200" dist="25400" dir="2700000">
              <a:srgbClr val="000000">
                <a:alpha val="18000"/>
              </a:srgbClr>
            </a:outerShdw>
          </a:effectLst>
        </p:spPr>
      </p:sp>
      <p:pic>
        <p:nvPicPr>
          <p:cNvPr id="21" name="Image 3" descr="preencoded.png">    </p:cNvPr>
          <p:cNvPicPr>
            <a:picLocks noChangeAspect="1"/>
          </p:cNvPicPr>
          <p:nvPr/>
        </p:nvPicPr>
        <p:blipFill>
          <a:blip r:embed="rId4"/>
          <a:stretch>
            <a:fillRect/>
          </a:stretch>
        </p:blipFill>
        <p:spPr>
          <a:xfrm>
            <a:off x="594360" y="5212080"/>
            <a:ext cx="384048" cy="384048"/>
          </a:xfrm>
          <a:prstGeom prst="rect">
            <a:avLst/>
          </a:prstGeom>
        </p:spPr>
      </p:pic>
      <p:sp>
        <p:nvSpPr>
          <p:cNvPr id="22" name="Text 16"/>
          <p:cNvSpPr/>
          <p:nvPr/>
        </p:nvSpPr>
        <p:spPr>
          <a:xfrm>
            <a:off x="1143000" y="4983480"/>
            <a:ext cx="315468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Application Gateway</a:t>
            </a:r>
            <a:endParaRPr lang="en-US" sz="1300" dirty="0"/>
          </a:p>
        </p:txBody>
      </p:sp>
      <p:sp>
        <p:nvSpPr>
          <p:cNvPr id="23" name="Text 17"/>
          <p:cNvSpPr/>
          <p:nvPr/>
        </p:nvSpPr>
        <p:spPr>
          <a:xfrm>
            <a:off x="1143000" y="5349240"/>
            <a:ext cx="3154680" cy="566928"/>
          </a:xfrm>
          <a:prstGeom prst="rect">
            <a:avLst/>
          </a:prstGeom>
          <a:noFill/>
          <a:ln/>
        </p:spPr>
        <p:txBody>
          <a:bodyPr wrap="square" lIns="0" tIns="0" rIns="0" bIns="0" rtlCol="0" anchor="ctr"/>
          <a:lstStyle/>
          <a:p>
            <a:pPr indent="0" marL="0">
              <a:buNone/>
            </a:pPr>
            <a:r>
              <a:rPr lang="en-US" sz="1050" dirty="0">
                <a:solidFill>
                  <a:srgbClr val="A8BBCC"/>
                </a:solidFill>
                <a:latin typeface="Calibri" pitchFamily="34" charset="0"/>
                <a:ea typeface="Calibri" pitchFamily="34" charset="-122"/>
                <a:cs typeface="Calibri" pitchFamily="34" charset="-120"/>
              </a:rPr>
              <a:t>Ingress controller for AKS</a:t>
            </a:r>
            <a:endParaRPr lang="en-US" sz="1050" dirty="0"/>
          </a:p>
          <a:p>
            <a:pPr indent="0" marL="0">
              <a:buNone/>
            </a:pPr>
            <a:r>
              <a:rPr lang="en-US" sz="1050" dirty="0">
                <a:solidFill>
                  <a:srgbClr val="A8BBCC"/>
                </a:solidFill>
                <a:latin typeface="Calibri" pitchFamily="34" charset="0"/>
                <a:ea typeface="Calibri" pitchFamily="34" charset="-122"/>
                <a:cs typeface="Calibri" pitchFamily="34" charset="-120"/>
              </a:rPr>
              <a:t>HTTP routing, backend pools, SSL termination</a:t>
            </a:r>
            <a:endParaRPr lang="en-US" sz="1050" dirty="0"/>
          </a:p>
        </p:txBody>
      </p:sp>
      <p:sp>
        <p:nvSpPr>
          <p:cNvPr id="24" name="Shape 18"/>
          <p:cNvSpPr/>
          <p:nvPr/>
        </p:nvSpPr>
        <p:spPr>
          <a:xfrm>
            <a:off x="4754880" y="822960"/>
            <a:ext cx="6995160" cy="5257800"/>
          </a:xfrm>
          <a:prstGeom prst="roundRect">
            <a:avLst>
              <a:gd name="adj" fmla="val 2609"/>
            </a:avLst>
          </a:prstGeom>
          <a:solidFill>
            <a:srgbClr val="0D2040"/>
          </a:solidFill>
          <a:ln w="12700">
            <a:solidFill>
              <a:srgbClr val="1A3A5C"/>
            </a:solidFill>
            <a:prstDash val="solid"/>
          </a:ln>
          <a:effectLst>
            <a:outerShdw sx="100000" sy="100000" kx="0" ky="0" algn="bl" rotWithShape="0" blurRad="127000" dist="38100" dir="2700000">
              <a:srgbClr val="000000">
                <a:alpha val="25000"/>
              </a:srgbClr>
            </a:outerShdw>
          </a:effectLst>
        </p:spPr>
      </p:sp>
      <p:pic>
        <p:nvPicPr>
          <p:cNvPr id="25" name="Image 4" descr="preencoded.png">    </p:cNvPr>
          <p:cNvPicPr>
            <a:picLocks noChangeAspect="1"/>
          </p:cNvPicPr>
          <p:nvPr/>
        </p:nvPicPr>
        <p:blipFill>
          <a:blip r:embed="rId5"/>
          <a:srcRect l="0" r="0" t="0" b="0"/>
          <a:stretch/>
        </p:blipFill>
        <p:spPr>
          <a:xfrm>
            <a:off x="4892040" y="914400"/>
            <a:ext cx="6812280" cy="5074920"/>
          </a:xfrm>
          <a:prstGeom prst="rect">
            <a:avLst/>
          </a:prstGeom>
        </p:spPr>
      </p:pic>
      <p:sp>
        <p:nvSpPr>
          <p:cNvPr id="26" name="Text 19"/>
          <p:cNvSpPr/>
          <p:nvPr/>
        </p:nvSpPr>
        <p:spPr>
          <a:xfrm>
            <a:off x="4754880" y="6108192"/>
            <a:ext cx="6995160" cy="320040"/>
          </a:xfrm>
          <a:prstGeom prst="rect">
            <a:avLst/>
          </a:prstGeom>
          <a:noFill/>
          <a:ln/>
        </p:spPr>
        <p:txBody>
          <a:bodyPr wrap="square" lIns="0" tIns="0" rIns="0" bIns="0" rtlCol="0" anchor="ctr"/>
          <a:lstStyle/>
          <a:p>
            <a:pPr algn="ctr" indent="0" marL="0">
              <a:buNone/>
            </a:pPr>
            <a:r>
              <a:rPr lang="en-US" sz="1000" i="1" dirty="0">
                <a:solidFill>
                  <a:srgbClr val="5A7A9A"/>
                </a:solidFill>
                <a:latin typeface="Calibri" pitchFamily="34" charset="0"/>
                <a:ea typeface="Calibri" pitchFamily="34" charset="-122"/>
                <a:cs typeface="Calibri" pitchFamily="34" charset="-120"/>
              </a:rPr>
              <a:t>Architecture Diagram</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2040"/>
          </a:solidFill>
          <a:ln w="12700">
            <a:solidFill>
              <a:srgbClr val="0D2040"/>
            </a:solidFill>
            <a:prstDash val="solid"/>
          </a:ln>
        </p:spPr>
      </p:sp>
      <p:sp>
        <p:nvSpPr>
          <p:cNvPr id="3" name="Shape 1"/>
          <p:cNvSpPr/>
          <p:nvPr/>
        </p:nvSpPr>
        <p:spPr>
          <a:xfrm>
            <a:off x="228600" y="137160"/>
            <a:ext cx="384048" cy="384048"/>
          </a:xfrm>
          <a:prstGeom prst="ellipse">
            <a:avLst/>
          </a:prstGeom>
          <a:solidFill>
            <a:srgbClr val="00C8FF">
              <a:alpha val="80000"/>
            </a:srgbClr>
          </a:solidFill>
          <a:ln w="12700">
            <a:solidFill>
              <a:srgbClr val="00C8FF"/>
            </a:solidFill>
            <a:prstDash val="solid"/>
          </a:ln>
        </p:spPr>
      </p:sp>
      <p:sp>
        <p:nvSpPr>
          <p:cNvPr id="4" name="Shape 2"/>
          <p:cNvSpPr/>
          <p:nvPr/>
        </p:nvSpPr>
        <p:spPr>
          <a:xfrm>
            <a:off x="502920" y="256032"/>
            <a:ext cx="164592" cy="164592"/>
          </a:xfrm>
          <a:prstGeom prst="ellipse">
            <a:avLst/>
          </a:prstGeom>
          <a:solidFill>
            <a:srgbClr val="00C8FF">
              <a:alpha val="60000"/>
            </a:srgbClr>
          </a:solidFill>
          <a:ln w="12700">
            <a:solidFill>
              <a:srgbClr val="00C8FF"/>
            </a:solidFill>
            <a:prstDash val="solid"/>
          </a:ln>
        </p:spPr>
      </p:sp>
      <p:sp>
        <p:nvSpPr>
          <p:cNvPr id="5" name="Text 3"/>
          <p:cNvSpPr/>
          <p:nvPr/>
        </p:nvSpPr>
        <p:spPr>
          <a:xfrm>
            <a:off x="777240" y="73152"/>
            <a:ext cx="6858000" cy="50292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Data &amp; Async Messaging</a:t>
            </a:r>
            <a:endParaRPr lang="en-US" sz="2200" dirty="0"/>
          </a:p>
        </p:txBody>
      </p:sp>
      <p:sp>
        <p:nvSpPr>
          <p:cNvPr id="6" name="Text 4"/>
          <p:cNvSpPr/>
          <p:nvPr/>
        </p:nvSpPr>
        <p:spPr>
          <a:xfrm>
            <a:off x="777240" y="73152"/>
            <a:ext cx="6858000" cy="502920"/>
          </a:xfrm>
          <a:prstGeom prst="rect">
            <a:avLst/>
          </a:prstGeom>
          <a:noFill/>
          <a:ln/>
        </p:spPr>
        <p:txBody>
          <a:bodyPr wrap="square" lIns="0" tIns="0" rIns="0" bIns="0" rtlCol="0" anchor="ctr"/>
          <a:lstStyle/>
          <a:p>
            <a:pPr algn="r" indent="0" marL="0">
              <a:buNone/>
            </a:pPr>
            <a:r>
              <a:rPr lang="en-US" sz="1300" dirty="0">
                <a:solidFill>
                  <a:srgbClr val="00C8FF"/>
                </a:solidFill>
                <a:latin typeface="Calibri" pitchFamily="34" charset="0"/>
                <a:ea typeface="Calibri" pitchFamily="34" charset="-122"/>
                <a:cs typeface="Calibri" pitchFamily="34" charset="-120"/>
              </a:rPr>
              <a:t>PostgreSQL Flexible Server + Azure Service Bus</a:t>
            </a:r>
            <a:endParaRPr lang="en-US" sz="1300" dirty="0"/>
          </a:p>
        </p:txBody>
      </p:sp>
      <p:sp>
        <p:nvSpPr>
          <p:cNvPr id="7" name="Shape 5"/>
          <p:cNvSpPr/>
          <p:nvPr/>
        </p:nvSpPr>
        <p:spPr>
          <a:xfrm>
            <a:off x="8412480" y="109728"/>
            <a:ext cx="548640" cy="438912"/>
          </a:xfrm>
          <a:prstGeom prst="roundRect">
            <a:avLst>
              <a:gd name="adj" fmla="val 16667"/>
            </a:avLst>
          </a:prstGeom>
          <a:solidFill>
            <a:srgbClr val="00C8FF"/>
          </a:solidFill>
          <a:ln w="12700">
            <a:solidFill>
              <a:srgbClr val="00C8FF"/>
            </a:solidFill>
            <a:prstDash val="solid"/>
          </a:ln>
        </p:spPr>
      </p:sp>
      <p:sp>
        <p:nvSpPr>
          <p:cNvPr id="8" name="Shape 6"/>
          <p:cNvSpPr/>
          <p:nvPr/>
        </p:nvSpPr>
        <p:spPr>
          <a:xfrm>
            <a:off x="365760" y="804672"/>
            <a:ext cx="5486400" cy="5486400"/>
          </a:xfrm>
          <a:prstGeom prst="roundRect">
            <a:avLst>
              <a:gd name="adj" fmla="val 2500"/>
            </a:avLst>
          </a:prstGeom>
          <a:solidFill>
            <a:srgbClr val="112347"/>
          </a:solidFill>
          <a:ln w="12700">
            <a:solidFill>
              <a:srgbClr val="00C8FF"/>
            </a:solidFill>
            <a:prstDash val="solid"/>
          </a:ln>
          <a:effectLst>
            <a:outerShdw sx="100000" sy="100000" kx="0" ky="0" algn="bl" rotWithShape="0" blurRad="127000" dist="38100" dir="2700000">
              <a:srgbClr val="000000">
                <a:alpha val="25000"/>
              </a:srgbClr>
            </a:outerShdw>
          </a:effectLst>
        </p:spPr>
      </p:sp>
      <p:pic>
        <p:nvPicPr>
          <p:cNvPr id="9" name="Image 0" descr="preencoded.png">    </p:cNvPr>
          <p:cNvPicPr>
            <a:picLocks noChangeAspect="1"/>
          </p:cNvPicPr>
          <p:nvPr/>
        </p:nvPicPr>
        <p:blipFill>
          <a:blip r:embed="rId1"/>
          <a:stretch>
            <a:fillRect/>
          </a:stretch>
        </p:blipFill>
        <p:spPr>
          <a:xfrm>
            <a:off x="594360" y="1005840"/>
            <a:ext cx="502920" cy="502920"/>
          </a:xfrm>
          <a:prstGeom prst="rect">
            <a:avLst/>
          </a:prstGeom>
        </p:spPr>
      </p:pic>
      <p:sp>
        <p:nvSpPr>
          <p:cNvPr id="10" name="Text 7"/>
          <p:cNvSpPr/>
          <p:nvPr/>
        </p:nvSpPr>
        <p:spPr>
          <a:xfrm>
            <a:off x="1234440" y="960120"/>
            <a:ext cx="4434840" cy="50292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Azure PostgreSQL Flexible Server</a:t>
            </a:r>
            <a:endParaRPr lang="en-US" sz="1600" dirty="0"/>
          </a:p>
        </p:txBody>
      </p:sp>
      <p:sp>
        <p:nvSpPr>
          <p:cNvPr id="11" name="Shape 8"/>
          <p:cNvSpPr/>
          <p:nvPr/>
        </p:nvSpPr>
        <p:spPr>
          <a:xfrm>
            <a:off x="594360" y="1572768"/>
            <a:ext cx="2011680" cy="310896"/>
          </a:xfrm>
          <a:prstGeom prst="roundRect">
            <a:avLst>
              <a:gd name="adj" fmla="val 23529"/>
            </a:avLst>
          </a:prstGeom>
          <a:solidFill>
            <a:srgbClr val="00C8FF">
              <a:alpha val="20000"/>
            </a:srgbClr>
          </a:solidFill>
          <a:ln w="12700">
            <a:solidFill>
              <a:srgbClr val="00C8FF"/>
            </a:solidFill>
            <a:prstDash val="solid"/>
          </a:ln>
        </p:spPr>
      </p:sp>
      <p:sp>
        <p:nvSpPr>
          <p:cNvPr id="12" name="Text 9"/>
          <p:cNvSpPr/>
          <p:nvPr/>
        </p:nvSpPr>
        <p:spPr>
          <a:xfrm>
            <a:off x="594360" y="1572768"/>
            <a:ext cx="2011680" cy="310896"/>
          </a:xfrm>
          <a:prstGeom prst="rect">
            <a:avLst/>
          </a:prstGeom>
          <a:noFill/>
          <a:ln/>
        </p:spPr>
        <p:txBody>
          <a:bodyPr wrap="square" lIns="0" tIns="0" rIns="0" bIns="0" rtlCol="0" anchor="ctr"/>
          <a:lstStyle/>
          <a:p>
            <a:pPr algn="ctr" indent="0" marL="0">
              <a:buNone/>
            </a:pPr>
            <a:r>
              <a:rPr lang="en-US" sz="1000" b="1" dirty="0">
                <a:solidFill>
                  <a:srgbClr val="00C8FF"/>
                </a:solidFill>
                <a:latin typeface="Calibri" pitchFamily="34" charset="0"/>
                <a:ea typeface="Calibri" pitchFamily="34" charset="-122"/>
                <a:cs typeface="Calibri" pitchFamily="34" charset="-120"/>
              </a:rPr>
              <a:t>apex-banck-db</a:t>
            </a:r>
            <a:endParaRPr lang="en-US" sz="1000" dirty="0"/>
          </a:p>
        </p:txBody>
      </p:sp>
      <p:sp>
        <p:nvSpPr>
          <p:cNvPr id="13" name="Text 10"/>
          <p:cNvSpPr/>
          <p:nvPr/>
        </p:nvSpPr>
        <p:spPr>
          <a:xfrm>
            <a:off x="594360" y="2011680"/>
            <a:ext cx="5029200" cy="402336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A8BBCC"/>
                </a:solidFill>
                <a:latin typeface="Calibri" pitchFamily="34" charset="0"/>
                <a:ea typeface="Calibri" pitchFamily="34" charset="-122"/>
                <a:cs typeface="Calibri" pitchFamily="34" charset="-120"/>
              </a:rPr>
              <a:t>ACID-compliant relational data store</a:t>
            </a:r>
            <a:endParaRPr lang="en-US" sz="1200" dirty="0"/>
          </a:p>
          <a:p>
            <a:pPr marL="342900" indent="-342900">
              <a:spcAft>
                <a:spcPts val="400"/>
              </a:spcAft>
              <a:buSzPct val="100000"/>
              <a:buChar char="•"/>
            </a:pPr>
            <a:r>
              <a:rPr lang="en-US" sz="1200" dirty="0">
                <a:solidFill>
                  <a:srgbClr val="A8BBCC"/>
                </a:solidFill>
                <a:latin typeface="Calibri" pitchFamily="34" charset="0"/>
                <a:ea typeface="Calibri" pitchFamily="34" charset="-122"/>
                <a:cs typeface="Calibri" pitchFamily="34" charset="-120"/>
              </a:rPr>
              <a:t>Delegated subnet  172.16.17.0/24</a:t>
            </a:r>
            <a:endParaRPr lang="en-US" sz="1200" dirty="0"/>
          </a:p>
          <a:p>
            <a:pPr marL="342900" indent="-342900">
              <a:spcAft>
                <a:spcPts val="400"/>
              </a:spcAft>
              <a:buSzPct val="100000"/>
              <a:buChar char="•"/>
            </a:pPr>
            <a:r>
              <a:rPr lang="en-US" sz="1200" dirty="0">
                <a:solidFill>
                  <a:srgbClr val="A8BBCC"/>
                </a:solidFill>
                <a:latin typeface="Calibri" pitchFamily="34" charset="0"/>
                <a:ea typeface="Calibri" pitchFamily="34" charset="-122"/>
                <a:cs typeface="Calibri" pitchFamily="34" charset="-120"/>
              </a:rPr>
              <a:t>Private DNS Zone for name resolution</a:t>
            </a:r>
            <a:endParaRPr lang="en-US" sz="1200" dirty="0"/>
          </a:p>
          <a:p>
            <a:pPr marL="342900" indent="-342900">
              <a:spcAft>
                <a:spcPts val="400"/>
              </a:spcAft>
              <a:buSzPct val="100000"/>
              <a:buChar char="•"/>
            </a:pPr>
            <a:r>
              <a:rPr lang="en-US" sz="1200" dirty="0">
                <a:solidFill>
                  <a:srgbClr val="A8BBCC"/>
                </a:solidFill>
                <a:latin typeface="Calibri" pitchFamily="34" charset="0"/>
                <a:ea typeface="Calibri" pitchFamily="34" charset="-122"/>
                <a:cs typeface="Calibri" pitchFamily="34" charset="-120"/>
              </a:rPr>
              <a:t>Private Endpoint — no public internet exposure</a:t>
            </a:r>
            <a:endParaRPr lang="en-US" sz="1200" dirty="0"/>
          </a:p>
          <a:p>
            <a:pPr marL="342900" indent="-342900">
              <a:spcAft>
                <a:spcPts val="400"/>
              </a:spcAft>
              <a:buSzPct val="100000"/>
              <a:buChar char="•"/>
            </a:pPr>
            <a:r>
              <a:rPr lang="en-US" sz="1200" dirty="0">
                <a:solidFill>
                  <a:srgbClr val="A8BBCC"/>
                </a:solidFill>
                <a:latin typeface="Calibri" pitchFamily="34" charset="0"/>
                <a:ea typeface="Calibri" pitchFamily="34" charset="-122"/>
                <a:cs typeface="Calibri" pitchFamily="34" charset="-120"/>
              </a:rPr>
              <a:t>Automatic backups &amp; point-in-time restore</a:t>
            </a:r>
            <a:endParaRPr lang="en-US" sz="1200" dirty="0"/>
          </a:p>
          <a:p>
            <a:pPr marL="342900" indent="-342900">
              <a:spcAft>
                <a:spcPts val="400"/>
              </a:spcAft>
              <a:buSzPct val="100000"/>
              <a:buChar char="•"/>
            </a:pPr>
            <a:r>
              <a:rPr lang="en-US" sz="1200" dirty="0">
                <a:solidFill>
                  <a:srgbClr val="A8BBCC"/>
                </a:solidFill>
                <a:latin typeface="Calibri" pitchFamily="34" charset="0"/>
                <a:ea typeface="Calibri" pitchFamily="34" charset="-122"/>
                <a:cs typeface="Calibri" pitchFamily="34" charset="-120"/>
              </a:rPr>
              <a:t>Encrypted at rest (AES-256) and in transit (TLS)</a:t>
            </a:r>
            <a:endParaRPr lang="en-US" sz="1200" dirty="0"/>
          </a:p>
          <a:p>
            <a:pPr marL="342900" indent="-342900">
              <a:spcAft>
                <a:spcPts val="400"/>
              </a:spcAft>
              <a:buSzPct val="100000"/>
              <a:buChar char="•"/>
            </a:pPr>
            <a:r>
              <a:rPr lang="en-US" sz="1200" dirty="0">
                <a:solidFill>
                  <a:srgbClr val="A8BBCC"/>
                </a:solidFill>
                <a:latin typeface="Calibri" pitchFamily="34" charset="0"/>
                <a:ea typeface="Calibri" pitchFamily="34" charset="-122"/>
                <a:cs typeface="Calibri" pitchFamily="34" charset="-120"/>
              </a:rPr>
              <a:t>Managed patching with minimal downtime</a:t>
            </a:r>
            <a:endParaRPr lang="en-US" sz="1200" dirty="0"/>
          </a:p>
        </p:txBody>
      </p:sp>
      <p:sp>
        <p:nvSpPr>
          <p:cNvPr id="14" name="Shape 11"/>
          <p:cNvSpPr/>
          <p:nvPr/>
        </p:nvSpPr>
        <p:spPr>
          <a:xfrm>
            <a:off x="6309360" y="804672"/>
            <a:ext cx="5486400" cy="5486400"/>
          </a:xfrm>
          <a:prstGeom prst="roundRect">
            <a:avLst>
              <a:gd name="adj" fmla="val 2500"/>
            </a:avLst>
          </a:prstGeom>
          <a:solidFill>
            <a:srgbClr val="112347"/>
          </a:solidFill>
          <a:ln w="12700">
            <a:solidFill>
              <a:srgbClr val="00D4A8"/>
            </a:solidFill>
            <a:prstDash val="solid"/>
          </a:ln>
          <a:effectLst>
            <a:outerShdw sx="100000" sy="100000" kx="0" ky="0" algn="bl" rotWithShape="0" blurRad="127000" dist="38100" dir="2700000">
              <a:srgbClr val="000000">
                <a:alpha val="25000"/>
              </a:srgbClr>
            </a:outerShdw>
          </a:effectLst>
        </p:spPr>
      </p:sp>
      <p:pic>
        <p:nvPicPr>
          <p:cNvPr id="15" name="Image 1" descr="preencoded.png">    </p:cNvPr>
          <p:cNvPicPr>
            <a:picLocks noChangeAspect="1"/>
          </p:cNvPicPr>
          <p:nvPr/>
        </p:nvPicPr>
        <p:blipFill>
          <a:blip r:embed="rId2"/>
          <a:stretch>
            <a:fillRect/>
          </a:stretch>
        </p:blipFill>
        <p:spPr>
          <a:xfrm>
            <a:off x="6537960" y="1005840"/>
            <a:ext cx="502920" cy="502920"/>
          </a:xfrm>
          <a:prstGeom prst="rect">
            <a:avLst/>
          </a:prstGeom>
        </p:spPr>
      </p:pic>
      <p:sp>
        <p:nvSpPr>
          <p:cNvPr id="16" name="Text 12"/>
          <p:cNvSpPr/>
          <p:nvPr/>
        </p:nvSpPr>
        <p:spPr>
          <a:xfrm>
            <a:off x="7178040" y="960120"/>
            <a:ext cx="4434840" cy="50292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Azure Service Bus</a:t>
            </a:r>
            <a:endParaRPr lang="en-US" sz="1600" dirty="0"/>
          </a:p>
        </p:txBody>
      </p:sp>
      <p:sp>
        <p:nvSpPr>
          <p:cNvPr id="17" name="Shape 13"/>
          <p:cNvSpPr/>
          <p:nvPr/>
        </p:nvSpPr>
        <p:spPr>
          <a:xfrm>
            <a:off x="6537960" y="1572768"/>
            <a:ext cx="2011680" cy="310896"/>
          </a:xfrm>
          <a:prstGeom prst="roundRect">
            <a:avLst>
              <a:gd name="adj" fmla="val 23529"/>
            </a:avLst>
          </a:prstGeom>
          <a:solidFill>
            <a:srgbClr val="00D4A8">
              <a:alpha val="20000"/>
            </a:srgbClr>
          </a:solidFill>
          <a:ln w="12700">
            <a:solidFill>
              <a:srgbClr val="00D4A8"/>
            </a:solidFill>
            <a:prstDash val="solid"/>
          </a:ln>
        </p:spPr>
      </p:sp>
      <p:sp>
        <p:nvSpPr>
          <p:cNvPr id="18" name="Text 14"/>
          <p:cNvSpPr/>
          <p:nvPr/>
        </p:nvSpPr>
        <p:spPr>
          <a:xfrm>
            <a:off x="6537960" y="1572768"/>
            <a:ext cx="2011680" cy="310896"/>
          </a:xfrm>
          <a:prstGeom prst="rect">
            <a:avLst/>
          </a:prstGeom>
          <a:noFill/>
          <a:ln/>
        </p:spPr>
        <p:txBody>
          <a:bodyPr wrap="square" lIns="0" tIns="0" rIns="0" bIns="0" rtlCol="0" anchor="ctr"/>
          <a:lstStyle/>
          <a:p>
            <a:pPr algn="ctr" indent="0" marL="0">
              <a:buNone/>
            </a:pPr>
            <a:r>
              <a:rPr lang="en-US" sz="1000" b="1" dirty="0">
                <a:solidFill>
                  <a:srgbClr val="00D4A8"/>
                </a:solidFill>
                <a:latin typeface="Calibri" pitchFamily="34" charset="0"/>
                <a:ea typeface="Calibri" pitchFamily="34" charset="-122"/>
                <a:cs typeface="Calibri" pitchFamily="34" charset="-120"/>
              </a:rPr>
              <a:t>apex-bank-sb</a:t>
            </a:r>
            <a:endParaRPr lang="en-US" sz="1000" dirty="0"/>
          </a:p>
        </p:txBody>
      </p:sp>
      <p:sp>
        <p:nvSpPr>
          <p:cNvPr id="19" name="Text 15"/>
          <p:cNvSpPr/>
          <p:nvPr/>
        </p:nvSpPr>
        <p:spPr>
          <a:xfrm>
            <a:off x="6537960" y="2011680"/>
            <a:ext cx="5029200" cy="402336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A8BBCC"/>
                </a:solidFill>
                <a:latin typeface="Calibri" pitchFamily="34" charset="0"/>
                <a:ea typeface="Calibri" pitchFamily="34" charset="-122"/>
                <a:cs typeface="Calibri" pitchFamily="34" charset="-120"/>
              </a:rPr>
              <a:t>Decoupled async communication between services</a:t>
            </a:r>
            <a:endParaRPr lang="en-US" sz="1200" dirty="0"/>
          </a:p>
          <a:p>
            <a:pPr marL="342900" indent="-342900">
              <a:spcAft>
                <a:spcPts val="400"/>
              </a:spcAft>
              <a:buSzPct val="100000"/>
              <a:buChar char="•"/>
            </a:pPr>
            <a:r>
              <a:rPr lang="en-US" sz="1200" dirty="0">
                <a:solidFill>
                  <a:srgbClr val="A8BBCC"/>
                </a:solidFill>
                <a:latin typeface="Calibri" pitchFamily="34" charset="0"/>
                <a:ea typeface="Calibri" pitchFamily="34" charset="-122"/>
                <a:cs typeface="Calibri" pitchFamily="34" charset="-120"/>
              </a:rPr>
              <a:t>Guaranteed message delivery — at-least-once</a:t>
            </a:r>
            <a:endParaRPr lang="en-US" sz="1200" dirty="0"/>
          </a:p>
          <a:p>
            <a:pPr marL="342900" indent="-342900">
              <a:spcAft>
                <a:spcPts val="400"/>
              </a:spcAft>
              <a:buSzPct val="100000"/>
              <a:buChar char="•"/>
            </a:pPr>
            <a:r>
              <a:rPr lang="en-US" sz="1200" dirty="0">
                <a:solidFill>
                  <a:srgbClr val="A8BBCC"/>
                </a:solidFill>
                <a:latin typeface="Calibri" pitchFamily="34" charset="0"/>
                <a:ea typeface="Calibri" pitchFamily="34" charset="-122"/>
                <a:cs typeface="Calibri" pitchFamily="34" charset="-120"/>
              </a:rPr>
              <a:t>Dead-letter queues for failed message handling</a:t>
            </a:r>
            <a:endParaRPr lang="en-US" sz="1200" dirty="0"/>
          </a:p>
          <a:p>
            <a:pPr marL="342900" indent="-342900">
              <a:spcAft>
                <a:spcPts val="400"/>
              </a:spcAft>
              <a:buSzPct val="100000"/>
              <a:buChar char="•"/>
            </a:pPr>
            <a:r>
              <a:rPr lang="en-US" sz="1200" dirty="0">
                <a:solidFill>
                  <a:srgbClr val="A8BBCC"/>
                </a:solidFill>
                <a:latin typeface="Calibri" pitchFamily="34" charset="0"/>
                <a:ea typeface="Calibri" pitchFamily="34" charset="-122"/>
                <a:cs typeface="Calibri" pitchFamily="34" charset="-120"/>
              </a:rPr>
              <a:t>Email notification events (mail service integration)</a:t>
            </a:r>
            <a:endParaRPr lang="en-US" sz="1200" dirty="0"/>
          </a:p>
          <a:p>
            <a:pPr marL="342900" indent="-342900">
              <a:spcAft>
                <a:spcPts val="400"/>
              </a:spcAft>
              <a:buSzPct val="100000"/>
              <a:buChar char="•"/>
            </a:pPr>
            <a:r>
              <a:rPr lang="en-US" sz="1200" dirty="0">
                <a:solidFill>
                  <a:srgbClr val="A8BBCC"/>
                </a:solidFill>
                <a:latin typeface="Calibri" pitchFamily="34" charset="0"/>
                <a:ea typeface="Calibri" pitchFamily="34" charset="-122"/>
                <a:cs typeface="Calibri" pitchFamily="34" charset="-120"/>
              </a:rPr>
              <a:t>Document processing job queuing</a:t>
            </a:r>
            <a:endParaRPr lang="en-US" sz="1200" dirty="0"/>
          </a:p>
          <a:p>
            <a:pPr marL="342900" indent="-342900">
              <a:spcAft>
                <a:spcPts val="400"/>
              </a:spcAft>
              <a:buSzPct val="100000"/>
              <a:buChar char="•"/>
            </a:pPr>
            <a:r>
              <a:rPr lang="en-US" sz="1200" dirty="0">
                <a:solidFill>
                  <a:srgbClr val="A8BBCC"/>
                </a:solidFill>
                <a:latin typeface="Calibri" pitchFamily="34" charset="0"/>
                <a:ea typeface="Calibri" pitchFamily="34" charset="-122"/>
                <a:cs typeface="Calibri" pitchFamily="34" charset="-120"/>
              </a:rPr>
              <a:t>Audit event streaming</a:t>
            </a:r>
            <a:endParaRPr lang="en-US" sz="1200" dirty="0"/>
          </a:p>
          <a:p>
            <a:pPr marL="342900" indent="-342900">
              <a:spcAft>
                <a:spcPts val="400"/>
              </a:spcAft>
              <a:buSzPct val="100000"/>
              <a:buChar char="•"/>
            </a:pPr>
            <a:r>
              <a:rPr lang="en-US" sz="1200" dirty="0">
                <a:solidFill>
                  <a:srgbClr val="A8BBCC"/>
                </a:solidFill>
                <a:latin typeface="Calibri" pitchFamily="34" charset="0"/>
                <a:ea typeface="Calibri" pitchFamily="34" charset="-122"/>
                <a:cs typeface="Calibri" pitchFamily="34" charset="-120"/>
              </a:rPr>
              <a:t>Private Endpoint via pe-subnet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2040"/>
          </a:solidFill>
          <a:ln w="12700">
            <a:solidFill>
              <a:srgbClr val="0D2040"/>
            </a:solidFill>
            <a:prstDash val="solid"/>
          </a:ln>
        </p:spPr>
      </p:sp>
      <p:sp>
        <p:nvSpPr>
          <p:cNvPr id="3" name="Shape 1"/>
          <p:cNvSpPr/>
          <p:nvPr/>
        </p:nvSpPr>
        <p:spPr>
          <a:xfrm>
            <a:off x="228600" y="137160"/>
            <a:ext cx="384048" cy="384048"/>
          </a:xfrm>
          <a:prstGeom prst="ellipse">
            <a:avLst/>
          </a:prstGeom>
          <a:solidFill>
            <a:srgbClr val="00C8FF">
              <a:alpha val="80000"/>
            </a:srgbClr>
          </a:solidFill>
          <a:ln w="12700">
            <a:solidFill>
              <a:srgbClr val="00C8FF"/>
            </a:solidFill>
            <a:prstDash val="solid"/>
          </a:ln>
        </p:spPr>
      </p:sp>
      <p:sp>
        <p:nvSpPr>
          <p:cNvPr id="4" name="Shape 2"/>
          <p:cNvSpPr/>
          <p:nvPr/>
        </p:nvSpPr>
        <p:spPr>
          <a:xfrm>
            <a:off x="502920" y="256032"/>
            <a:ext cx="164592" cy="164592"/>
          </a:xfrm>
          <a:prstGeom prst="ellipse">
            <a:avLst/>
          </a:prstGeom>
          <a:solidFill>
            <a:srgbClr val="00C8FF">
              <a:alpha val="60000"/>
            </a:srgbClr>
          </a:solidFill>
          <a:ln w="12700">
            <a:solidFill>
              <a:srgbClr val="00C8FF"/>
            </a:solidFill>
            <a:prstDash val="solid"/>
          </a:ln>
        </p:spPr>
      </p:sp>
      <p:sp>
        <p:nvSpPr>
          <p:cNvPr id="5" name="Text 3"/>
          <p:cNvSpPr/>
          <p:nvPr/>
        </p:nvSpPr>
        <p:spPr>
          <a:xfrm>
            <a:off x="777240" y="73152"/>
            <a:ext cx="6858000" cy="50292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Enterprise Security &amp; Compliance</a:t>
            </a:r>
            <a:endParaRPr lang="en-US" sz="2200" dirty="0"/>
          </a:p>
        </p:txBody>
      </p:sp>
      <p:sp>
        <p:nvSpPr>
          <p:cNvPr id="6" name="Text 4"/>
          <p:cNvSpPr/>
          <p:nvPr/>
        </p:nvSpPr>
        <p:spPr>
          <a:xfrm>
            <a:off x="777240" y="73152"/>
            <a:ext cx="6858000" cy="502920"/>
          </a:xfrm>
          <a:prstGeom prst="rect">
            <a:avLst/>
          </a:prstGeom>
          <a:noFill/>
          <a:ln/>
        </p:spPr>
        <p:txBody>
          <a:bodyPr wrap="square" lIns="0" tIns="0" rIns="0" bIns="0" rtlCol="0" anchor="ctr"/>
          <a:lstStyle/>
          <a:p>
            <a:pPr algn="r" indent="0" marL="0">
              <a:buNone/>
            </a:pPr>
            <a:r>
              <a:rPr lang="en-US" sz="1300" dirty="0">
                <a:solidFill>
                  <a:srgbClr val="00C8FF"/>
                </a:solidFill>
                <a:latin typeface="Calibri" pitchFamily="34" charset="0"/>
                <a:ea typeface="Calibri" pitchFamily="34" charset="-122"/>
                <a:cs typeface="Calibri" pitchFamily="34" charset="-120"/>
              </a:rPr>
              <a:t>Zero-Trust by Design</a:t>
            </a:r>
            <a:endParaRPr lang="en-US" sz="1300" dirty="0"/>
          </a:p>
        </p:txBody>
      </p:sp>
      <p:sp>
        <p:nvSpPr>
          <p:cNvPr id="7" name="Shape 5"/>
          <p:cNvSpPr/>
          <p:nvPr/>
        </p:nvSpPr>
        <p:spPr>
          <a:xfrm>
            <a:off x="8412480" y="109728"/>
            <a:ext cx="548640" cy="438912"/>
          </a:xfrm>
          <a:prstGeom prst="roundRect">
            <a:avLst>
              <a:gd name="adj" fmla="val 16667"/>
            </a:avLst>
          </a:prstGeom>
          <a:solidFill>
            <a:srgbClr val="00C8FF"/>
          </a:solidFill>
          <a:ln w="12700">
            <a:solidFill>
              <a:srgbClr val="00C8FF"/>
            </a:solidFill>
            <a:prstDash val="solid"/>
          </a:ln>
        </p:spPr>
      </p:sp>
      <p:sp>
        <p:nvSpPr>
          <p:cNvPr id="8" name="Text 6"/>
          <p:cNvSpPr/>
          <p:nvPr/>
        </p:nvSpPr>
        <p:spPr>
          <a:xfrm>
            <a:off x="457200" y="804672"/>
            <a:ext cx="1124712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Military-Grade Security at Every Layer</a:t>
            </a:r>
            <a:endParaRPr lang="en-US" sz="2000" dirty="0"/>
          </a:p>
        </p:txBody>
      </p:sp>
      <p:sp>
        <p:nvSpPr>
          <p:cNvPr id="9" name="Shape 7"/>
          <p:cNvSpPr/>
          <p:nvPr/>
        </p:nvSpPr>
        <p:spPr>
          <a:xfrm>
            <a:off x="365760" y="1417320"/>
            <a:ext cx="3703320" cy="2103120"/>
          </a:xfrm>
          <a:prstGeom prst="roundRect">
            <a:avLst>
              <a:gd name="adj" fmla="val 6522"/>
            </a:avLst>
          </a:prstGeom>
          <a:solidFill>
            <a:srgbClr val="112347"/>
          </a:solidFill>
          <a:ln w="12700">
            <a:solidFill>
              <a:srgbClr val="FFB347"/>
            </a:solidFill>
            <a:prstDash val="solid"/>
          </a:ln>
          <a:effectLst>
            <a:outerShdw sx="100000" sy="100000" kx="0" ky="0" algn="bl" rotWithShape="0" blurRad="76200" dist="25400" dir="2700000">
              <a:srgbClr val="000000">
                <a:alpha val="18000"/>
              </a:srgbClr>
            </a:outerShdw>
          </a:effectLst>
        </p:spPr>
      </p:sp>
      <p:pic>
        <p:nvPicPr>
          <p:cNvPr id="10" name="Image 0" descr="preencoded.png">    </p:cNvPr>
          <p:cNvPicPr>
            <a:picLocks noChangeAspect="1"/>
          </p:cNvPicPr>
          <p:nvPr/>
        </p:nvPicPr>
        <p:blipFill>
          <a:blip r:embed="rId1"/>
          <a:stretch>
            <a:fillRect/>
          </a:stretch>
        </p:blipFill>
        <p:spPr>
          <a:xfrm>
            <a:off x="548640" y="1600200"/>
            <a:ext cx="411480" cy="411480"/>
          </a:xfrm>
          <a:prstGeom prst="rect">
            <a:avLst/>
          </a:prstGeom>
        </p:spPr>
      </p:pic>
      <p:sp>
        <p:nvSpPr>
          <p:cNvPr id="11" name="Text 8"/>
          <p:cNvSpPr/>
          <p:nvPr/>
        </p:nvSpPr>
        <p:spPr>
          <a:xfrm>
            <a:off x="1078992" y="1527048"/>
            <a:ext cx="2834640" cy="5943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Azure Key Vault + CSI Secrets Store</a:t>
            </a:r>
            <a:endParaRPr lang="en-US" sz="1200" dirty="0"/>
          </a:p>
        </p:txBody>
      </p:sp>
      <p:sp>
        <p:nvSpPr>
          <p:cNvPr id="12" name="Text 9"/>
          <p:cNvSpPr/>
          <p:nvPr/>
        </p:nvSpPr>
        <p:spPr>
          <a:xfrm>
            <a:off x="548640" y="2167128"/>
            <a:ext cx="3337560" cy="1170432"/>
          </a:xfrm>
          <a:prstGeom prst="rect">
            <a:avLst/>
          </a:prstGeom>
          <a:noFill/>
          <a:ln/>
        </p:spPr>
        <p:txBody>
          <a:bodyPr wrap="square" lIns="0" tIns="0" rIns="0" bIns="0" rtlCol="0" anchor="ctr"/>
          <a:lstStyle/>
          <a:p>
            <a:pPr indent="0" marL="0">
              <a:buNone/>
            </a:pPr>
            <a:r>
              <a:rPr lang="en-US" sz="1050" dirty="0">
                <a:solidFill>
                  <a:srgbClr val="A8BBCC"/>
                </a:solidFill>
                <a:latin typeface="Calibri" pitchFamily="34" charset="0"/>
                <a:ea typeface="Calibri" pitchFamily="34" charset="-122"/>
                <a:cs typeface="Calibri" pitchFamily="34" charset="-120"/>
              </a:rPr>
              <a:t>Secrets injected directly into pods as volume mounts via the CSI driver. Zero hardcoded passwords anywhere in the codebase or container images. Automatic secret rotation.</a:t>
            </a:r>
            <a:endParaRPr lang="en-US" sz="1050" dirty="0"/>
          </a:p>
        </p:txBody>
      </p:sp>
      <p:sp>
        <p:nvSpPr>
          <p:cNvPr id="13" name="Shape 10"/>
          <p:cNvSpPr/>
          <p:nvPr/>
        </p:nvSpPr>
        <p:spPr>
          <a:xfrm>
            <a:off x="4297680" y="1417320"/>
            <a:ext cx="3703320" cy="2103120"/>
          </a:xfrm>
          <a:prstGeom prst="roundRect">
            <a:avLst>
              <a:gd name="adj" fmla="val 6522"/>
            </a:avLst>
          </a:prstGeom>
          <a:solidFill>
            <a:srgbClr val="112347"/>
          </a:solidFill>
          <a:ln w="12700">
            <a:solidFill>
              <a:srgbClr val="00C8FF"/>
            </a:solidFill>
            <a:prstDash val="solid"/>
          </a:ln>
          <a:effectLst>
            <a:outerShdw sx="100000" sy="100000" kx="0" ky="0" algn="bl" rotWithShape="0" blurRad="76200" dist="25400" dir="2700000">
              <a:srgbClr val="000000">
                <a:alpha val="18000"/>
              </a:srgbClr>
            </a:outerShdw>
          </a:effectLst>
        </p:spPr>
      </p:sp>
      <p:pic>
        <p:nvPicPr>
          <p:cNvPr id="14" name="Image 1" descr="preencoded.png">    </p:cNvPr>
          <p:cNvPicPr>
            <a:picLocks noChangeAspect="1"/>
          </p:cNvPicPr>
          <p:nvPr/>
        </p:nvPicPr>
        <p:blipFill>
          <a:blip r:embed="rId2"/>
          <a:stretch>
            <a:fillRect/>
          </a:stretch>
        </p:blipFill>
        <p:spPr>
          <a:xfrm>
            <a:off x="4480560" y="1600200"/>
            <a:ext cx="411480" cy="411480"/>
          </a:xfrm>
          <a:prstGeom prst="rect">
            <a:avLst/>
          </a:prstGeom>
        </p:spPr>
      </p:pic>
      <p:sp>
        <p:nvSpPr>
          <p:cNvPr id="15" name="Text 11"/>
          <p:cNvSpPr/>
          <p:nvPr/>
        </p:nvSpPr>
        <p:spPr>
          <a:xfrm>
            <a:off x="5010912" y="1527048"/>
            <a:ext cx="2834640" cy="5943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Web Application Firewall (WAF)</a:t>
            </a:r>
            <a:endParaRPr lang="en-US" sz="1200" dirty="0"/>
          </a:p>
        </p:txBody>
      </p:sp>
      <p:sp>
        <p:nvSpPr>
          <p:cNvPr id="16" name="Text 12"/>
          <p:cNvSpPr/>
          <p:nvPr/>
        </p:nvSpPr>
        <p:spPr>
          <a:xfrm>
            <a:off x="4480560" y="2167128"/>
            <a:ext cx="3337560" cy="1170432"/>
          </a:xfrm>
          <a:prstGeom prst="rect">
            <a:avLst/>
          </a:prstGeom>
          <a:noFill/>
          <a:ln/>
        </p:spPr>
        <p:txBody>
          <a:bodyPr wrap="square" lIns="0" tIns="0" rIns="0" bIns="0" rtlCol="0" anchor="ctr"/>
          <a:lstStyle/>
          <a:p>
            <a:pPr indent="0" marL="0">
              <a:buNone/>
            </a:pPr>
            <a:r>
              <a:rPr lang="en-US" sz="1050" dirty="0">
                <a:solidFill>
                  <a:srgbClr val="A8BBCC"/>
                </a:solidFill>
                <a:latin typeface="Calibri" pitchFamily="34" charset="0"/>
                <a:ea typeface="Calibri" pitchFamily="34" charset="-122"/>
                <a:cs typeface="Calibri" pitchFamily="34" charset="-120"/>
              </a:rPr>
              <a:t>Azure Front Door WAF blocks OWASP Top-10 exploits at the edge — SQL injection, XSS, request flooding — before traffic ever reaches the cluster. Custom rule sets enforced.</a:t>
            </a:r>
            <a:endParaRPr lang="en-US" sz="1050" dirty="0"/>
          </a:p>
        </p:txBody>
      </p:sp>
      <p:sp>
        <p:nvSpPr>
          <p:cNvPr id="17" name="Shape 13"/>
          <p:cNvSpPr/>
          <p:nvPr/>
        </p:nvSpPr>
        <p:spPr>
          <a:xfrm>
            <a:off x="8229600" y="1417320"/>
            <a:ext cx="3703320" cy="2103120"/>
          </a:xfrm>
          <a:prstGeom prst="roundRect">
            <a:avLst>
              <a:gd name="adj" fmla="val 6522"/>
            </a:avLst>
          </a:prstGeom>
          <a:solidFill>
            <a:srgbClr val="112347"/>
          </a:solidFill>
          <a:ln w="12700">
            <a:solidFill>
              <a:srgbClr val="00D4A8"/>
            </a:solidFill>
            <a:prstDash val="solid"/>
          </a:ln>
          <a:effectLst>
            <a:outerShdw sx="100000" sy="100000" kx="0" ky="0" algn="bl" rotWithShape="0" blurRad="76200" dist="25400" dir="2700000">
              <a:srgbClr val="000000">
                <a:alpha val="18000"/>
              </a:srgbClr>
            </a:outerShdw>
          </a:effectLst>
        </p:spPr>
      </p:sp>
      <p:pic>
        <p:nvPicPr>
          <p:cNvPr id="18" name="Image 2" descr="preencoded.png">    </p:cNvPr>
          <p:cNvPicPr>
            <a:picLocks noChangeAspect="1"/>
          </p:cNvPicPr>
          <p:nvPr/>
        </p:nvPicPr>
        <p:blipFill>
          <a:blip r:embed="rId3"/>
          <a:stretch>
            <a:fillRect/>
          </a:stretch>
        </p:blipFill>
        <p:spPr>
          <a:xfrm>
            <a:off x="8412480" y="1600200"/>
            <a:ext cx="411480" cy="411480"/>
          </a:xfrm>
          <a:prstGeom prst="rect">
            <a:avLst/>
          </a:prstGeom>
        </p:spPr>
      </p:pic>
      <p:sp>
        <p:nvSpPr>
          <p:cNvPr id="19" name="Text 14"/>
          <p:cNvSpPr/>
          <p:nvPr/>
        </p:nvSpPr>
        <p:spPr>
          <a:xfrm>
            <a:off x="8942832" y="1527048"/>
            <a:ext cx="2834640" cy="5943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Managed Identities &amp; RBAC</a:t>
            </a:r>
            <a:endParaRPr lang="en-US" sz="1200" dirty="0"/>
          </a:p>
        </p:txBody>
      </p:sp>
      <p:sp>
        <p:nvSpPr>
          <p:cNvPr id="20" name="Text 15"/>
          <p:cNvSpPr/>
          <p:nvPr/>
        </p:nvSpPr>
        <p:spPr>
          <a:xfrm>
            <a:off x="8412480" y="2167128"/>
            <a:ext cx="3337560" cy="1170432"/>
          </a:xfrm>
          <a:prstGeom prst="rect">
            <a:avLst/>
          </a:prstGeom>
          <a:noFill/>
          <a:ln/>
        </p:spPr>
        <p:txBody>
          <a:bodyPr wrap="square" lIns="0" tIns="0" rIns="0" bIns="0" rtlCol="0" anchor="ctr"/>
          <a:lstStyle/>
          <a:p>
            <a:pPr indent="0" marL="0">
              <a:buNone/>
            </a:pPr>
            <a:r>
              <a:rPr lang="en-US" sz="1050" dirty="0">
                <a:solidFill>
                  <a:srgbClr val="A8BBCC"/>
                </a:solidFill>
                <a:latin typeface="Calibri" pitchFamily="34" charset="0"/>
                <a:ea typeface="Calibri" pitchFamily="34" charset="-122"/>
                <a:cs typeface="Calibri" pitchFamily="34" charset="-120"/>
              </a:rPr>
              <a:t>No static credentials between Azure services. Workload Identity provides token-based, scoped access. RBAC enforces least-privilege access across all resource operations.</a:t>
            </a:r>
            <a:endParaRPr lang="en-US" sz="1050" dirty="0"/>
          </a:p>
        </p:txBody>
      </p:sp>
      <p:sp>
        <p:nvSpPr>
          <p:cNvPr id="21" name="Shape 16"/>
          <p:cNvSpPr/>
          <p:nvPr/>
        </p:nvSpPr>
        <p:spPr>
          <a:xfrm>
            <a:off x="365760" y="3749040"/>
            <a:ext cx="3703320" cy="2103120"/>
          </a:xfrm>
          <a:prstGeom prst="roundRect">
            <a:avLst>
              <a:gd name="adj" fmla="val 6522"/>
            </a:avLst>
          </a:prstGeom>
          <a:solidFill>
            <a:srgbClr val="112347"/>
          </a:solidFill>
          <a:ln w="12700">
            <a:solidFill>
              <a:srgbClr val="8B5CF6"/>
            </a:solidFill>
            <a:prstDash val="solid"/>
          </a:ln>
          <a:effectLst>
            <a:outerShdw sx="100000" sy="100000" kx="0" ky="0" algn="bl" rotWithShape="0" blurRad="76200" dist="25400" dir="2700000">
              <a:srgbClr val="000000">
                <a:alpha val="18000"/>
              </a:srgbClr>
            </a:outerShdw>
          </a:effectLst>
        </p:spPr>
      </p:sp>
      <p:pic>
        <p:nvPicPr>
          <p:cNvPr id="22" name="Image 3" descr="preencoded.png">    </p:cNvPr>
          <p:cNvPicPr>
            <a:picLocks noChangeAspect="1"/>
          </p:cNvPicPr>
          <p:nvPr/>
        </p:nvPicPr>
        <p:blipFill>
          <a:blip r:embed="rId4"/>
          <a:stretch>
            <a:fillRect/>
          </a:stretch>
        </p:blipFill>
        <p:spPr>
          <a:xfrm>
            <a:off x="548640" y="3931920"/>
            <a:ext cx="411480" cy="411480"/>
          </a:xfrm>
          <a:prstGeom prst="rect">
            <a:avLst/>
          </a:prstGeom>
        </p:spPr>
      </p:pic>
      <p:sp>
        <p:nvSpPr>
          <p:cNvPr id="23" name="Text 17"/>
          <p:cNvSpPr/>
          <p:nvPr/>
        </p:nvSpPr>
        <p:spPr>
          <a:xfrm>
            <a:off x="1078992" y="3858768"/>
            <a:ext cx="2834640" cy="5943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Network Isolation (Zero-Trust)</a:t>
            </a:r>
            <a:endParaRPr lang="en-US" sz="1200" dirty="0"/>
          </a:p>
        </p:txBody>
      </p:sp>
      <p:sp>
        <p:nvSpPr>
          <p:cNvPr id="24" name="Text 18"/>
          <p:cNvSpPr/>
          <p:nvPr/>
        </p:nvSpPr>
        <p:spPr>
          <a:xfrm>
            <a:off x="548640" y="4498848"/>
            <a:ext cx="3337560" cy="1170432"/>
          </a:xfrm>
          <a:prstGeom prst="rect">
            <a:avLst/>
          </a:prstGeom>
          <a:noFill/>
          <a:ln/>
        </p:spPr>
        <p:txBody>
          <a:bodyPr wrap="square" lIns="0" tIns="0" rIns="0" bIns="0" rtlCol="0" anchor="ctr"/>
          <a:lstStyle/>
          <a:p>
            <a:pPr indent="0" marL="0">
              <a:buNone/>
            </a:pPr>
            <a:r>
              <a:rPr lang="en-US" sz="1050" dirty="0">
                <a:solidFill>
                  <a:srgbClr val="A8BBCC"/>
                </a:solidFill>
                <a:latin typeface="Calibri" pitchFamily="34" charset="0"/>
                <a:ea typeface="Calibri" pitchFamily="34" charset="-122"/>
                <a:cs typeface="Calibri" pitchFamily="34" charset="-120"/>
              </a:rPr>
              <a:t>Subnet segmentation, Private Endpoints for PostgreSQL, Service Bus, Key Vault, and Storage Account. NSG rules whitelist only necessary traffic flows between subnets.</a:t>
            </a:r>
            <a:endParaRPr lang="en-US" sz="1050" dirty="0"/>
          </a:p>
        </p:txBody>
      </p:sp>
      <p:sp>
        <p:nvSpPr>
          <p:cNvPr id="25" name="Shape 19"/>
          <p:cNvSpPr/>
          <p:nvPr/>
        </p:nvSpPr>
        <p:spPr>
          <a:xfrm>
            <a:off x="4297680" y="3749040"/>
            <a:ext cx="3703320" cy="2103120"/>
          </a:xfrm>
          <a:prstGeom prst="roundRect">
            <a:avLst>
              <a:gd name="adj" fmla="val 6522"/>
            </a:avLst>
          </a:prstGeom>
          <a:solidFill>
            <a:srgbClr val="112347"/>
          </a:solidFill>
          <a:ln w="12700">
            <a:solidFill>
              <a:srgbClr val="00D4A8"/>
            </a:solidFill>
            <a:prstDash val="solid"/>
          </a:ln>
          <a:effectLst>
            <a:outerShdw sx="100000" sy="100000" kx="0" ky="0" algn="bl" rotWithShape="0" blurRad="76200" dist="25400" dir="2700000">
              <a:srgbClr val="000000">
                <a:alpha val="18000"/>
              </a:srgbClr>
            </a:outerShdw>
          </a:effectLst>
        </p:spPr>
      </p:sp>
      <p:pic>
        <p:nvPicPr>
          <p:cNvPr id="26" name="Image 4" descr="preencoded.png">    </p:cNvPr>
          <p:cNvPicPr>
            <a:picLocks noChangeAspect="1"/>
          </p:cNvPicPr>
          <p:nvPr/>
        </p:nvPicPr>
        <p:blipFill>
          <a:blip r:embed="rId5"/>
          <a:stretch>
            <a:fillRect/>
          </a:stretch>
        </p:blipFill>
        <p:spPr>
          <a:xfrm>
            <a:off x="4480560" y="3931920"/>
            <a:ext cx="411480" cy="411480"/>
          </a:xfrm>
          <a:prstGeom prst="rect">
            <a:avLst/>
          </a:prstGeom>
        </p:spPr>
      </p:pic>
      <p:sp>
        <p:nvSpPr>
          <p:cNvPr id="27" name="Text 20"/>
          <p:cNvSpPr/>
          <p:nvPr/>
        </p:nvSpPr>
        <p:spPr>
          <a:xfrm>
            <a:off x="5010912" y="3858768"/>
            <a:ext cx="2834640" cy="5943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Audit &amp; Compliance Logging</a:t>
            </a:r>
            <a:endParaRPr lang="en-US" sz="1200" dirty="0"/>
          </a:p>
        </p:txBody>
      </p:sp>
      <p:sp>
        <p:nvSpPr>
          <p:cNvPr id="28" name="Text 21"/>
          <p:cNvSpPr/>
          <p:nvPr/>
        </p:nvSpPr>
        <p:spPr>
          <a:xfrm>
            <a:off x="4480560" y="4498848"/>
            <a:ext cx="3337560" cy="1170432"/>
          </a:xfrm>
          <a:prstGeom prst="rect">
            <a:avLst/>
          </a:prstGeom>
          <a:noFill/>
          <a:ln/>
        </p:spPr>
        <p:txBody>
          <a:bodyPr wrap="square" lIns="0" tIns="0" rIns="0" bIns="0" rtlCol="0" anchor="ctr"/>
          <a:lstStyle/>
          <a:p>
            <a:pPr indent="0" marL="0">
              <a:buNone/>
            </a:pPr>
            <a:r>
              <a:rPr lang="en-US" sz="1050" dirty="0">
                <a:solidFill>
                  <a:srgbClr val="A8BBCC"/>
                </a:solidFill>
                <a:latin typeface="Calibri" pitchFamily="34" charset="0"/>
                <a:ea typeface="Calibri" pitchFamily="34" charset="-122"/>
                <a:cs typeface="Calibri" pitchFamily="34" charset="-120"/>
              </a:rPr>
              <a:t>All events routed to Log Analytics Workspace (log-apexbank) and Application Insights (appin-apex-bank). Immutable audit trail meets SOC 2 and PCI-DSS requirements.</a:t>
            </a:r>
            <a:endParaRPr lang="en-US" sz="1050" dirty="0"/>
          </a:p>
        </p:txBody>
      </p:sp>
      <p:sp>
        <p:nvSpPr>
          <p:cNvPr id="29" name="Shape 22"/>
          <p:cNvSpPr/>
          <p:nvPr/>
        </p:nvSpPr>
        <p:spPr>
          <a:xfrm>
            <a:off x="8229600" y="3749040"/>
            <a:ext cx="3703320" cy="2103120"/>
          </a:xfrm>
          <a:prstGeom prst="roundRect">
            <a:avLst>
              <a:gd name="adj" fmla="val 6522"/>
            </a:avLst>
          </a:prstGeom>
          <a:solidFill>
            <a:srgbClr val="112347"/>
          </a:solidFill>
          <a:ln w="12700">
            <a:solidFill>
              <a:srgbClr val="00C8FF"/>
            </a:solidFill>
            <a:prstDash val="solid"/>
          </a:ln>
          <a:effectLst>
            <a:outerShdw sx="100000" sy="100000" kx="0" ky="0" algn="bl" rotWithShape="0" blurRad="76200" dist="25400" dir="2700000">
              <a:srgbClr val="000000">
                <a:alpha val="18000"/>
              </a:srgbClr>
            </a:outerShdw>
          </a:effectLst>
        </p:spPr>
      </p:sp>
      <p:pic>
        <p:nvPicPr>
          <p:cNvPr id="30" name="Image 5" descr="preencoded.png">    </p:cNvPr>
          <p:cNvPicPr>
            <a:picLocks noChangeAspect="1"/>
          </p:cNvPicPr>
          <p:nvPr/>
        </p:nvPicPr>
        <p:blipFill>
          <a:blip r:embed="rId6"/>
          <a:stretch>
            <a:fillRect/>
          </a:stretch>
        </p:blipFill>
        <p:spPr>
          <a:xfrm>
            <a:off x="8412480" y="3931920"/>
            <a:ext cx="411480" cy="411480"/>
          </a:xfrm>
          <a:prstGeom prst="rect">
            <a:avLst/>
          </a:prstGeom>
        </p:spPr>
      </p:pic>
      <p:sp>
        <p:nvSpPr>
          <p:cNvPr id="31" name="Text 23"/>
          <p:cNvSpPr/>
          <p:nvPr/>
        </p:nvSpPr>
        <p:spPr>
          <a:xfrm>
            <a:off x="8942832" y="3858768"/>
            <a:ext cx="2834640" cy="5943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Encrypted Transit &amp; Rest</a:t>
            </a:r>
            <a:endParaRPr lang="en-US" sz="1200" dirty="0"/>
          </a:p>
        </p:txBody>
      </p:sp>
      <p:sp>
        <p:nvSpPr>
          <p:cNvPr id="32" name="Text 24"/>
          <p:cNvSpPr/>
          <p:nvPr/>
        </p:nvSpPr>
        <p:spPr>
          <a:xfrm>
            <a:off x="8412480" y="4498848"/>
            <a:ext cx="3337560" cy="1170432"/>
          </a:xfrm>
          <a:prstGeom prst="rect">
            <a:avLst/>
          </a:prstGeom>
          <a:noFill/>
          <a:ln/>
        </p:spPr>
        <p:txBody>
          <a:bodyPr wrap="square" lIns="0" tIns="0" rIns="0" bIns="0" rtlCol="0" anchor="ctr"/>
          <a:lstStyle/>
          <a:p>
            <a:pPr indent="0" marL="0">
              <a:buNone/>
            </a:pPr>
            <a:r>
              <a:rPr lang="en-US" sz="1050" dirty="0">
                <a:solidFill>
                  <a:srgbClr val="A8BBCC"/>
                </a:solidFill>
                <a:latin typeface="Calibri" pitchFamily="34" charset="0"/>
                <a:ea typeface="Calibri" pitchFamily="34" charset="-122"/>
                <a:cs typeface="Calibri" pitchFamily="34" charset="-120"/>
              </a:rPr>
              <a:t>TLS enforced on all ingress and inter-service traffic. PostgreSQL and Blob Storage encrypted with AES-256 at rest. Key Vault manages all encryption key lifecycles.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2040"/>
          </a:solidFill>
          <a:ln w="12700">
            <a:solidFill>
              <a:srgbClr val="0D2040"/>
            </a:solidFill>
            <a:prstDash val="solid"/>
          </a:ln>
        </p:spPr>
      </p:sp>
      <p:sp>
        <p:nvSpPr>
          <p:cNvPr id="3" name="Shape 1"/>
          <p:cNvSpPr/>
          <p:nvPr/>
        </p:nvSpPr>
        <p:spPr>
          <a:xfrm>
            <a:off x="228600" y="137160"/>
            <a:ext cx="384048" cy="384048"/>
          </a:xfrm>
          <a:prstGeom prst="ellipse">
            <a:avLst/>
          </a:prstGeom>
          <a:solidFill>
            <a:srgbClr val="00C8FF">
              <a:alpha val="80000"/>
            </a:srgbClr>
          </a:solidFill>
          <a:ln w="12700">
            <a:solidFill>
              <a:srgbClr val="00C8FF"/>
            </a:solidFill>
            <a:prstDash val="solid"/>
          </a:ln>
        </p:spPr>
      </p:sp>
      <p:sp>
        <p:nvSpPr>
          <p:cNvPr id="4" name="Shape 2"/>
          <p:cNvSpPr/>
          <p:nvPr/>
        </p:nvSpPr>
        <p:spPr>
          <a:xfrm>
            <a:off x="502920" y="256032"/>
            <a:ext cx="164592" cy="164592"/>
          </a:xfrm>
          <a:prstGeom prst="ellipse">
            <a:avLst/>
          </a:prstGeom>
          <a:solidFill>
            <a:srgbClr val="00C8FF">
              <a:alpha val="60000"/>
            </a:srgbClr>
          </a:solidFill>
          <a:ln w="12700">
            <a:solidFill>
              <a:srgbClr val="00C8FF"/>
            </a:solidFill>
            <a:prstDash val="solid"/>
          </a:ln>
        </p:spPr>
      </p:sp>
      <p:sp>
        <p:nvSpPr>
          <p:cNvPr id="5" name="Text 3"/>
          <p:cNvSpPr/>
          <p:nvPr/>
        </p:nvSpPr>
        <p:spPr>
          <a:xfrm>
            <a:off x="777240" y="73152"/>
            <a:ext cx="6858000" cy="50292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Infrastructure as Code (IaC)</a:t>
            </a:r>
            <a:endParaRPr lang="en-US" sz="2200" dirty="0"/>
          </a:p>
        </p:txBody>
      </p:sp>
      <p:sp>
        <p:nvSpPr>
          <p:cNvPr id="6" name="Text 4"/>
          <p:cNvSpPr/>
          <p:nvPr/>
        </p:nvSpPr>
        <p:spPr>
          <a:xfrm>
            <a:off x="777240" y="73152"/>
            <a:ext cx="6858000" cy="502920"/>
          </a:xfrm>
          <a:prstGeom prst="rect">
            <a:avLst/>
          </a:prstGeom>
          <a:noFill/>
          <a:ln/>
        </p:spPr>
        <p:txBody>
          <a:bodyPr wrap="square" lIns="0" tIns="0" rIns="0" bIns="0" rtlCol="0" anchor="ctr"/>
          <a:lstStyle/>
          <a:p>
            <a:pPr algn="r" indent="0" marL="0">
              <a:buNone/>
            </a:pPr>
            <a:r>
              <a:rPr lang="en-US" sz="1300" dirty="0">
                <a:solidFill>
                  <a:srgbClr val="00C8FF"/>
                </a:solidFill>
                <a:latin typeface="Calibri" pitchFamily="34" charset="0"/>
                <a:ea typeface="Calibri" pitchFamily="34" charset="-122"/>
                <a:cs typeface="Calibri" pitchFamily="34" charset="-120"/>
              </a:rPr>
              <a:t>100% Terraform — Reproducible Environments</a:t>
            </a:r>
            <a:endParaRPr lang="en-US" sz="1300" dirty="0"/>
          </a:p>
        </p:txBody>
      </p:sp>
      <p:sp>
        <p:nvSpPr>
          <p:cNvPr id="7" name="Shape 5"/>
          <p:cNvSpPr/>
          <p:nvPr/>
        </p:nvSpPr>
        <p:spPr>
          <a:xfrm>
            <a:off x="8412480" y="109728"/>
            <a:ext cx="548640" cy="438912"/>
          </a:xfrm>
          <a:prstGeom prst="roundRect">
            <a:avLst>
              <a:gd name="adj" fmla="val 16667"/>
            </a:avLst>
          </a:prstGeom>
          <a:solidFill>
            <a:srgbClr val="00C8FF"/>
          </a:solidFill>
          <a:ln w="12700">
            <a:solidFill>
              <a:srgbClr val="00C8FF"/>
            </a:solidFill>
            <a:prstDash val="solid"/>
          </a:ln>
        </p:spPr>
      </p:sp>
      <p:sp>
        <p:nvSpPr>
          <p:cNvPr id="8" name="Text 6"/>
          <p:cNvSpPr/>
          <p:nvPr/>
        </p:nvSpPr>
        <p:spPr>
          <a:xfrm>
            <a:off x="457200" y="822960"/>
            <a:ext cx="5486400" cy="54864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One Codebase. Any Environment. Any Time.</a:t>
            </a:r>
            <a:endParaRPr lang="en-US" sz="2000" dirty="0"/>
          </a:p>
        </p:txBody>
      </p:sp>
      <p:sp>
        <p:nvSpPr>
          <p:cNvPr id="9" name="Text 7"/>
          <p:cNvSpPr/>
          <p:nvPr/>
        </p:nvSpPr>
        <p:spPr>
          <a:xfrm>
            <a:off x="457200" y="1463040"/>
            <a:ext cx="5486400" cy="685800"/>
          </a:xfrm>
          <a:prstGeom prst="rect">
            <a:avLst/>
          </a:prstGeom>
          <a:noFill/>
          <a:ln/>
        </p:spPr>
        <p:txBody>
          <a:bodyPr wrap="square" lIns="0" tIns="0" rIns="0" bIns="0" rtlCol="0" anchor="ctr"/>
          <a:lstStyle/>
          <a:p>
            <a:pPr indent="0" marL="0">
              <a:buNone/>
            </a:pPr>
            <a:r>
              <a:rPr lang="en-US" sz="1250" dirty="0">
                <a:solidFill>
                  <a:srgbClr val="A8BBCC"/>
                </a:solidFill>
                <a:latin typeface="Calibri" pitchFamily="34" charset="0"/>
                <a:ea typeface="Calibri" pitchFamily="34" charset="-122"/>
                <a:cs typeface="Calibri" pitchFamily="34" charset="-120"/>
              </a:rPr>
              <a:t>The entire NexaBank Azure infrastructure — from VNet to AKS to Key Vault — is declared in Terraform HCL files. No manual portal clicks. No configuration drift.</a:t>
            </a:r>
            <a:endParaRPr lang="en-US" sz="1250" dirty="0"/>
          </a:p>
        </p:txBody>
      </p:sp>
      <p:sp>
        <p:nvSpPr>
          <p:cNvPr id="10" name="Shape 8"/>
          <p:cNvSpPr/>
          <p:nvPr/>
        </p:nvSpPr>
        <p:spPr>
          <a:xfrm>
            <a:off x="457200" y="2240280"/>
            <a:ext cx="5486400" cy="3108960"/>
          </a:xfrm>
          <a:prstGeom prst="roundRect">
            <a:avLst>
              <a:gd name="adj" fmla="val 3529"/>
            </a:avLst>
          </a:prstGeom>
          <a:solidFill>
            <a:srgbClr val="0D1F0D"/>
          </a:solidFill>
          <a:ln w="12700">
            <a:solidFill>
              <a:srgbClr val="2D5A2D"/>
            </a:solidFill>
            <a:prstDash val="solid"/>
          </a:ln>
        </p:spPr>
      </p:sp>
      <p:sp>
        <p:nvSpPr>
          <p:cNvPr id="11" name="Text 9"/>
          <p:cNvSpPr/>
          <p:nvPr/>
        </p:nvSpPr>
        <p:spPr>
          <a:xfrm>
            <a:off x="640080" y="2359152"/>
            <a:ext cx="5120640" cy="320040"/>
          </a:xfrm>
          <a:prstGeom prst="rect">
            <a:avLst/>
          </a:prstGeom>
          <a:noFill/>
          <a:ln/>
        </p:spPr>
        <p:txBody>
          <a:bodyPr wrap="square" lIns="0" tIns="0" rIns="0" bIns="0" rtlCol="0" anchor="ctr"/>
          <a:lstStyle/>
          <a:p>
            <a:pPr indent="0" marL="0">
              <a:buNone/>
            </a:pPr>
            <a:r>
              <a:rPr lang="en-US" sz="1100" dirty="0">
                <a:solidFill>
                  <a:srgbClr val="5A9A5A"/>
                </a:solidFill>
                <a:latin typeface="Courier New" pitchFamily="34" charset="0"/>
                <a:ea typeface="Courier New" pitchFamily="34" charset="-122"/>
                <a:cs typeface="Courier New" pitchFamily="34" charset="-120"/>
              </a:rPr>
              <a:t># terraform/modules/</a:t>
            </a:r>
            <a:endParaRPr lang="en-US" sz="1100" dirty="0"/>
          </a:p>
        </p:txBody>
      </p:sp>
      <p:sp>
        <p:nvSpPr>
          <p:cNvPr id="12" name="Text 10"/>
          <p:cNvSpPr/>
          <p:nvPr/>
        </p:nvSpPr>
        <p:spPr>
          <a:xfrm>
            <a:off x="640080" y="2743200"/>
            <a:ext cx="5120640" cy="347472"/>
          </a:xfrm>
          <a:prstGeom prst="rect">
            <a:avLst/>
          </a:prstGeom>
          <a:noFill/>
          <a:ln/>
        </p:spPr>
        <p:txBody>
          <a:bodyPr wrap="square" lIns="0" tIns="0" rIns="0" bIns="0" rtlCol="0" anchor="ctr"/>
          <a:lstStyle/>
          <a:p>
            <a:pPr indent="0" marL="0">
              <a:buNone/>
            </a:pPr>
            <a:r>
              <a:rPr lang="en-US" sz="1100" dirty="0">
                <a:solidFill>
                  <a:srgbClr val="00C8FF"/>
                </a:solidFill>
                <a:latin typeface="Courier New" pitchFamily="34" charset="0"/>
                <a:ea typeface="Courier New" pitchFamily="34" charset="-122"/>
                <a:cs typeface="Courier New" pitchFamily="34" charset="-120"/>
              </a:rPr>
              <a:t>networking    — VNet, subnets, NSGs</a:t>
            </a:r>
            <a:endParaRPr lang="en-US" sz="1100" dirty="0"/>
          </a:p>
        </p:txBody>
      </p:sp>
      <p:sp>
        <p:nvSpPr>
          <p:cNvPr id="13" name="Text 11"/>
          <p:cNvSpPr/>
          <p:nvPr/>
        </p:nvSpPr>
        <p:spPr>
          <a:xfrm>
            <a:off x="640080" y="3118104"/>
            <a:ext cx="5120640" cy="347472"/>
          </a:xfrm>
          <a:prstGeom prst="rect">
            <a:avLst/>
          </a:prstGeom>
          <a:noFill/>
          <a:ln/>
        </p:spPr>
        <p:txBody>
          <a:bodyPr wrap="square" lIns="0" tIns="0" rIns="0" bIns="0" rtlCol="0" anchor="ctr"/>
          <a:lstStyle/>
          <a:p>
            <a:pPr indent="0" marL="0">
              <a:buNone/>
            </a:pPr>
            <a:r>
              <a:rPr lang="en-US" sz="1100" dirty="0">
                <a:solidFill>
                  <a:srgbClr val="E8F4FD"/>
                </a:solidFill>
                <a:latin typeface="Courier New" pitchFamily="34" charset="0"/>
                <a:ea typeface="Courier New" pitchFamily="34" charset="-122"/>
                <a:cs typeface="Courier New" pitchFamily="34" charset="-120"/>
              </a:rPr>
              <a:t>aks           — Cluster, node pools, AGIC</a:t>
            </a:r>
            <a:endParaRPr lang="en-US" sz="1100" dirty="0"/>
          </a:p>
        </p:txBody>
      </p:sp>
      <p:sp>
        <p:nvSpPr>
          <p:cNvPr id="14" name="Text 12"/>
          <p:cNvSpPr/>
          <p:nvPr/>
        </p:nvSpPr>
        <p:spPr>
          <a:xfrm>
            <a:off x="640080" y="3493008"/>
            <a:ext cx="5120640" cy="347472"/>
          </a:xfrm>
          <a:prstGeom prst="rect">
            <a:avLst/>
          </a:prstGeom>
          <a:noFill/>
          <a:ln/>
        </p:spPr>
        <p:txBody>
          <a:bodyPr wrap="square" lIns="0" tIns="0" rIns="0" bIns="0" rtlCol="0" anchor="ctr"/>
          <a:lstStyle/>
          <a:p>
            <a:pPr indent="0" marL="0">
              <a:buNone/>
            </a:pPr>
            <a:r>
              <a:rPr lang="en-US" sz="1100" dirty="0">
                <a:solidFill>
                  <a:srgbClr val="00C8FF"/>
                </a:solidFill>
                <a:latin typeface="Courier New" pitchFamily="34" charset="0"/>
                <a:ea typeface="Courier New" pitchFamily="34" charset="-122"/>
                <a:cs typeface="Courier New" pitchFamily="34" charset="-120"/>
              </a:rPr>
              <a:t>database      — PostgreSQL Flexible Server</a:t>
            </a:r>
            <a:endParaRPr lang="en-US" sz="1100" dirty="0"/>
          </a:p>
        </p:txBody>
      </p:sp>
      <p:sp>
        <p:nvSpPr>
          <p:cNvPr id="15" name="Text 13"/>
          <p:cNvSpPr/>
          <p:nvPr/>
        </p:nvSpPr>
        <p:spPr>
          <a:xfrm>
            <a:off x="640080" y="3867912"/>
            <a:ext cx="5120640" cy="347472"/>
          </a:xfrm>
          <a:prstGeom prst="rect">
            <a:avLst/>
          </a:prstGeom>
          <a:noFill/>
          <a:ln/>
        </p:spPr>
        <p:txBody>
          <a:bodyPr wrap="square" lIns="0" tIns="0" rIns="0" bIns="0" rtlCol="0" anchor="ctr"/>
          <a:lstStyle/>
          <a:p>
            <a:pPr indent="0" marL="0">
              <a:buNone/>
            </a:pPr>
            <a:r>
              <a:rPr lang="en-US" sz="1100" dirty="0">
                <a:solidFill>
                  <a:srgbClr val="E8F4FD"/>
                </a:solidFill>
                <a:latin typeface="Courier New" pitchFamily="34" charset="0"/>
                <a:ea typeface="Courier New" pitchFamily="34" charset="-122"/>
                <a:cs typeface="Courier New" pitchFamily="34" charset="-120"/>
              </a:rPr>
              <a:t>keyvault      — Vault, policies, secrets</a:t>
            </a:r>
            <a:endParaRPr lang="en-US" sz="1100" dirty="0"/>
          </a:p>
        </p:txBody>
      </p:sp>
      <p:sp>
        <p:nvSpPr>
          <p:cNvPr id="16" name="Text 14"/>
          <p:cNvSpPr/>
          <p:nvPr/>
        </p:nvSpPr>
        <p:spPr>
          <a:xfrm>
            <a:off x="640080" y="4242816"/>
            <a:ext cx="5120640" cy="347472"/>
          </a:xfrm>
          <a:prstGeom prst="rect">
            <a:avLst/>
          </a:prstGeom>
          <a:noFill/>
          <a:ln/>
        </p:spPr>
        <p:txBody>
          <a:bodyPr wrap="square" lIns="0" tIns="0" rIns="0" bIns="0" rtlCol="0" anchor="ctr"/>
          <a:lstStyle/>
          <a:p>
            <a:pPr indent="0" marL="0">
              <a:buNone/>
            </a:pPr>
            <a:r>
              <a:rPr lang="en-US" sz="1100" dirty="0">
                <a:solidFill>
                  <a:srgbClr val="00C8FF"/>
                </a:solidFill>
                <a:latin typeface="Courier New" pitchFamily="34" charset="0"/>
                <a:ea typeface="Courier New" pitchFamily="34" charset="-122"/>
                <a:cs typeface="Courier New" pitchFamily="34" charset="-120"/>
              </a:rPr>
              <a:t>servicebus    — Namespace, queues, topics</a:t>
            </a:r>
            <a:endParaRPr lang="en-US" sz="1100" dirty="0"/>
          </a:p>
        </p:txBody>
      </p:sp>
      <p:sp>
        <p:nvSpPr>
          <p:cNvPr id="17" name="Text 15"/>
          <p:cNvSpPr/>
          <p:nvPr/>
        </p:nvSpPr>
        <p:spPr>
          <a:xfrm>
            <a:off x="640080" y="4617720"/>
            <a:ext cx="5120640" cy="347472"/>
          </a:xfrm>
          <a:prstGeom prst="rect">
            <a:avLst/>
          </a:prstGeom>
          <a:noFill/>
          <a:ln/>
        </p:spPr>
        <p:txBody>
          <a:bodyPr wrap="square" lIns="0" tIns="0" rIns="0" bIns="0" rtlCol="0" anchor="ctr"/>
          <a:lstStyle/>
          <a:p>
            <a:pPr indent="0" marL="0">
              <a:buNone/>
            </a:pPr>
            <a:r>
              <a:rPr lang="en-US" sz="1100" dirty="0">
                <a:solidFill>
                  <a:srgbClr val="E8F4FD"/>
                </a:solidFill>
                <a:latin typeface="Courier New" pitchFamily="34" charset="0"/>
                <a:ea typeface="Courier New" pitchFamily="34" charset="-122"/>
                <a:cs typeface="Courier New" pitchFamily="34" charset="-120"/>
              </a:rPr>
              <a:t>monitoring    — Log Analytics, App Insights</a:t>
            </a:r>
            <a:endParaRPr lang="en-US" sz="1100" dirty="0"/>
          </a:p>
        </p:txBody>
      </p:sp>
      <p:sp>
        <p:nvSpPr>
          <p:cNvPr id="18" name="Text 16"/>
          <p:cNvSpPr/>
          <p:nvPr/>
        </p:nvSpPr>
        <p:spPr>
          <a:xfrm>
            <a:off x="640080" y="4992624"/>
            <a:ext cx="5120640" cy="347472"/>
          </a:xfrm>
          <a:prstGeom prst="rect">
            <a:avLst/>
          </a:prstGeom>
          <a:noFill/>
          <a:ln/>
        </p:spPr>
        <p:txBody>
          <a:bodyPr wrap="square" lIns="0" tIns="0" rIns="0" bIns="0" rtlCol="0" anchor="ctr"/>
          <a:lstStyle/>
          <a:p>
            <a:pPr indent="0" marL="0">
              <a:buNone/>
            </a:pPr>
            <a:r>
              <a:rPr lang="en-US" sz="1100" dirty="0">
                <a:solidFill>
                  <a:srgbClr val="00C8FF"/>
                </a:solidFill>
                <a:latin typeface="Courier New" pitchFamily="34" charset="0"/>
                <a:ea typeface="Courier New" pitchFamily="34" charset="-122"/>
                <a:cs typeface="Courier New" pitchFamily="34" charset="-120"/>
              </a:rPr>
              <a:t>frontdoor     — CDN profile, WAF policies</a:t>
            </a:r>
            <a:endParaRPr lang="en-US" sz="1100" dirty="0"/>
          </a:p>
        </p:txBody>
      </p:sp>
      <p:sp>
        <p:nvSpPr>
          <p:cNvPr id="19" name="Text 17"/>
          <p:cNvSpPr/>
          <p:nvPr/>
        </p:nvSpPr>
        <p:spPr>
          <a:xfrm>
            <a:off x="457200" y="5440680"/>
            <a:ext cx="5486400" cy="320040"/>
          </a:xfrm>
          <a:prstGeom prst="rect">
            <a:avLst/>
          </a:prstGeom>
          <a:noFill/>
          <a:ln/>
        </p:spPr>
        <p:txBody>
          <a:bodyPr wrap="square" lIns="0" tIns="0" rIns="0" bIns="0" rtlCol="0" anchor="ctr"/>
          <a:lstStyle/>
          <a:p>
            <a:pPr indent="0" marL="0">
              <a:buNone/>
            </a:pPr>
            <a:r>
              <a:rPr lang="en-US" sz="1100" i="1" dirty="0">
                <a:solidFill>
                  <a:srgbClr val="5A7A9A"/>
                </a:solidFill>
                <a:latin typeface="Calibri" pitchFamily="34" charset="0"/>
                <a:ea typeface="Calibri" pitchFamily="34" charset="-122"/>
                <a:cs typeface="Calibri" pitchFamily="34" charset="-120"/>
              </a:rPr>
              <a:t>Identical environments provisioned in minutes:</a:t>
            </a:r>
            <a:endParaRPr lang="en-US" sz="1100" dirty="0"/>
          </a:p>
        </p:txBody>
      </p:sp>
      <p:sp>
        <p:nvSpPr>
          <p:cNvPr id="20" name="Shape 18"/>
          <p:cNvSpPr/>
          <p:nvPr/>
        </p:nvSpPr>
        <p:spPr>
          <a:xfrm>
            <a:off x="457200" y="5806440"/>
            <a:ext cx="1554480" cy="475488"/>
          </a:xfrm>
          <a:prstGeom prst="roundRect">
            <a:avLst>
              <a:gd name="adj" fmla="val 19231"/>
            </a:avLst>
          </a:prstGeom>
          <a:solidFill>
            <a:srgbClr val="00D4A8">
              <a:alpha val="20000"/>
            </a:srgbClr>
          </a:solidFill>
          <a:ln w="12700">
            <a:solidFill>
              <a:srgbClr val="00D4A8"/>
            </a:solidFill>
            <a:prstDash val="solid"/>
          </a:ln>
        </p:spPr>
      </p:sp>
      <p:sp>
        <p:nvSpPr>
          <p:cNvPr id="21" name="Text 19"/>
          <p:cNvSpPr/>
          <p:nvPr/>
        </p:nvSpPr>
        <p:spPr>
          <a:xfrm>
            <a:off x="457200" y="5806440"/>
            <a:ext cx="1554480" cy="475488"/>
          </a:xfrm>
          <a:prstGeom prst="rect">
            <a:avLst/>
          </a:prstGeom>
          <a:noFill/>
          <a:ln/>
        </p:spPr>
        <p:txBody>
          <a:bodyPr wrap="square" lIns="0" tIns="0" rIns="0" bIns="0" rtlCol="0" anchor="ctr"/>
          <a:lstStyle/>
          <a:p>
            <a:pPr algn="ctr" indent="0" marL="0">
              <a:buNone/>
            </a:pPr>
            <a:r>
              <a:rPr lang="en-US" sz="1400" b="1" dirty="0">
                <a:solidFill>
                  <a:srgbClr val="00D4A8"/>
                </a:solidFill>
                <a:latin typeface="Calibri" pitchFamily="34" charset="0"/>
                <a:ea typeface="Calibri" pitchFamily="34" charset="-122"/>
                <a:cs typeface="Calibri" pitchFamily="34" charset="-120"/>
              </a:rPr>
              <a:t>Dev</a:t>
            </a:r>
            <a:endParaRPr lang="en-US" sz="1400" dirty="0"/>
          </a:p>
        </p:txBody>
      </p:sp>
      <p:sp>
        <p:nvSpPr>
          <p:cNvPr id="22" name="Shape 20"/>
          <p:cNvSpPr/>
          <p:nvPr/>
        </p:nvSpPr>
        <p:spPr>
          <a:xfrm>
            <a:off x="2286000" y="5806440"/>
            <a:ext cx="1554480" cy="475488"/>
          </a:xfrm>
          <a:prstGeom prst="roundRect">
            <a:avLst>
              <a:gd name="adj" fmla="val 19231"/>
            </a:avLst>
          </a:prstGeom>
          <a:solidFill>
            <a:srgbClr val="FFB347">
              <a:alpha val="20000"/>
            </a:srgbClr>
          </a:solidFill>
          <a:ln w="12700">
            <a:solidFill>
              <a:srgbClr val="FFB347"/>
            </a:solidFill>
            <a:prstDash val="solid"/>
          </a:ln>
        </p:spPr>
      </p:sp>
      <p:sp>
        <p:nvSpPr>
          <p:cNvPr id="23" name="Text 21"/>
          <p:cNvSpPr/>
          <p:nvPr/>
        </p:nvSpPr>
        <p:spPr>
          <a:xfrm>
            <a:off x="2286000" y="5806440"/>
            <a:ext cx="1554480" cy="475488"/>
          </a:xfrm>
          <a:prstGeom prst="rect">
            <a:avLst/>
          </a:prstGeom>
          <a:noFill/>
          <a:ln/>
        </p:spPr>
        <p:txBody>
          <a:bodyPr wrap="square" lIns="0" tIns="0" rIns="0" bIns="0" rtlCol="0" anchor="ctr"/>
          <a:lstStyle/>
          <a:p>
            <a:pPr algn="ctr" indent="0" marL="0">
              <a:buNone/>
            </a:pPr>
            <a:r>
              <a:rPr lang="en-US" sz="1400" b="1" dirty="0">
                <a:solidFill>
                  <a:srgbClr val="FFB347"/>
                </a:solidFill>
                <a:latin typeface="Calibri" pitchFamily="34" charset="0"/>
                <a:ea typeface="Calibri" pitchFamily="34" charset="-122"/>
                <a:cs typeface="Calibri" pitchFamily="34" charset="-120"/>
              </a:rPr>
              <a:t>Staging</a:t>
            </a:r>
            <a:endParaRPr lang="en-US" sz="1400" dirty="0"/>
          </a:p>
        </p:txBody>
      </p:sp>
      <p:sp>
        <p:nvSpPr>
          <p:cNvPr id="24" name="Shape 22"/>
          <p:cNvSpPr/>
          <p:nvPr/>
        </p:nvSpPr>
        <p:spPr>
          <a:xfrm>
            <a:off x="4114800" y="5806440"/>
            <a:ext cx="1554480" cy="475488"/>
          </a:xfrm>
          <a:prstGeom prst="roundRect">
            <a:avLst>
              <a:gd name="adj" fmla="val 19231"/>
            </a:avLst>
          </a:prstGeom>
          <a:solidFill>
            <a:srgbClr val="00C8FF">
              <a:alpha val="20000"/>
            </a:srgbClr>
          </a:solidFill>
          <a:ln w="12700">
            <a:solidFill>
              <a:srgbClr val="00C8FF"/>
            </a:solidFill>
            <a:prstDash val="solid"/>
          </a:ln>
        </p:spPr>
      </p:sp>
      <p:sp>
        <p:nvSpPr>
          <p:cNvPr id="25" name="Text 23"/>
          <p:cNvSpPr/>
          <p:nvPr/>
        </p:nvSpPr>
        <p:spPr>
          <a:xfrm>
            <a:off x="4114800" y="5806440"/>
            <a:ext cx="1554480" cy="475488"/>
          </a:xfrm>
          <a:prstGeom prst="rect">
            <a:avLst/>
          </a:prstGeom>
          <a:noFill/>
          <a:ln/>
        </p:spPr>
        <p:txBody>
          <a:bodyPr wrap="square" lIns="0" tIns="0" rIns="0" bIns="0" rtlCol="0" anchor="ctr"/>
          <a:lstStyle/>
          <a:p>
            <a:pPr algn="ctr" indent="0" marL="0">
              <a:buNone/>
            </a:pPr>
            <a:r>
              <a:rPr lang="en-US" sz="1400" b="1" dirty="0">
                <a:solidFill>
                  <a:srgbClr val="00C8FF"/>
                </a:solidFill>
                <a:latin typeface="Calibri" pitchFamily="34" charset="0"/>
                <a:ea typeface="Calibri" pitchFamily="34" charset="-122"/>
                <a:cs typeface="Calibri" pitchFamily="34" charset="-120"/>
              </a:rPr>
              <a:t>Production</a:t>
            </a:r>
            <a:endParaRPr lang="en-US" sz="1400" dirty="0"/>
          </a:p>
        </p:txBody>
      </p:sp>
      <p:sp>
        <p:nvSpPr>
          <p:cNvPr id="26" name="Shape 24"/>
          <p:cNvSpPr/>
          <p:nvPr/>
        </p:nvSpPr>
        <p:spPr>
          <a:xfrm>
            <a:off x="6400800" y="914400"/>
            <a:ext cx="5349240" cy="1234440"/>
          </a:xfrm>
          <a:prstGeom prst="roundRect">
            <a:avLst>
              <a:gd name="adj" fmla="val 8889"/>
            </a:avLst>
          </a:prstGeom>
          <a:solidFill>
            <a:srgbClr val="112347"/>
          </a:solidFill>
          <a:ln w="12700">
            <a:solidFill>
              <a:srgbClr val="1A3A5C"/>
            </a:solidFill>
            <a:prstDash val="solid"/>
          </a:ln>
          <a:effectLst>
            <a:outerShdw sx="100000" sy="100000" kx="0" ky="0" algn="bl" rotWithShape="0" blurRad="76200" dist="25400" dir="2700000">
              <a:srgbClr val="000000">
                <a:alpha val="18000"/>
              </a:srgbClr>
            </a:outerShdw>
          </a:effectLst>
        </p:spPr>
      </p:sp>
      <p:pic>
        <p:nvPicPr>
          <p:cNvPr id="27" name="Image 0" descr="preencoded.png">    </p:cNvPr>
          <p:cNvPicPr>
            <a:picLocks noChangeAspect="1"/>
          </p:cNvPicPr>
          <p:nvPr/>
        </p:nvPicPr>
        <p:blipFill>
          <a:blip r:embed="rId1"/>
          <a:stretch>
            <a:fillRect/>
          </a:stretch>
        </p:blipFill>
        <p:spPr>
          <a:xfrm>
            <a:off x="6583680" y="1234440"/>
            <a:ext cx="347472" cy="347472"/>
          </a:xfrm>
          <a:prstGeom prst="rect">
            <a:avLst/>
          </a:prstGeom>
        </p:spPr>
      </p:pic>
      <p:sp>
        <p:nvSpPr>
          <p:cNvPr id="28" name="Text 25"/>
          <p:cNvSpPr/>
          <p:nvPr/>
        </p:nvSpPr>
        <p:spPr>
          <a:xfrm>
            <a:off x="7086600" y="987552"/>
            <a:ext cx="443484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No Configuration Drift</a:t>
            </a:r>
            <a:endParaRPr lang="en-US" sz="1300" dirty="0"/>
          </a:p>
        </p:txBody>
      </p:sp>
      <p:sp>
        <p:nvSpPr>
          <p:cNvPr id="29" name="Text 26"/>
          <p:cNvSpPr/>
          <p:nvPr/>
        </p:nvSpPr>
        <p:spPr>
          <a:xfrm>
            <a:off x="7086600" y="1371600"/>
            <a:ext cx="4434840" cy="658368"/>
          </a:xfrm>
          <a:prstGeom prst="rect">
            <a:avLst/>
          </a:prstGeom>
          <a:noFill/>
          <a:ln/>
        </p:spPr>
        <p:txBody>
          <a:bodyPr wrap="square" lIns="0" tIns="0" rIns="0" bIns="0" rtlCol="0" anchor="ctr"/>
          <a:lstStyle/>
          <a:p>
            <a:pPr indent="0" marL="0">
              <a:buNone/>
            </a:pPr>
            <a:r>
              <a:rPr lang="en-US" sz="1050" dirty="0">
                <a:solidFill>
                  <a:srgbClr val="A8BBCC"/>
                </a:solidFill>
                <a:latin typeface="Calibri" pitchFamily="34" charset="0"/>
                <a:ea typeface="Calibri" pitchFamily="34" charset="-122"/>
                <a:cs typeface="Calibri" pitchFamily="34" charset="-120"/>
              </a:rPr>
              <a:t>Actual infrastructure always matches the declared state. Terraform plan detects any manual changes before they cause incidents.</a:t>
            </a:r>
            <a:endParaRPr lang="en-US" sz="1050" dirty="0"/>
          </a:p>
        </p:txBody>
      </p:sp>
      <p:sp>
        <p:nvSpPr>
          <p:cNvPr id="30" name="Shape 27"/>
          <p:cNvSpPr/>
          <p:nvPr/>
        </p:nvSpPr>
        <p:spPr>
          <a:xfrm>
            <a:off x="6400800" y="2331720"/>
            <a:ext cx="5349240" cy="1234440"/>
          </a:xfrm>
          <a:prstGeom prst="roundRect">
            <a:avLst>
              <a:gd name="adj" fmla="val 8889"/>
            </a:avLst>
          </a:prstGeom>
          <a:solidFill>
            <a:srgbClr val="112347"/>
          </a:solidFill>
          <a:ln w="12700">
            <a:solidFill>
              <a:srgbClr val="1A3A5C"/>
            </a:solidFill>
            <a:prstDash val="solid"/>
          </a:ln>
          <a:effectLst>
            <a:outerShdw sx="100000" sy="100000" kx="0" ky="0" algn="bl" rotWithShape="0" blurRad="76200" dist="25400" dir="2700000">
              <a:srgbClr val="000000">
                <a:alpha val="18000"/>
              </a:srgbClr>
            </a:outerShdw>
          </a:effectLst>
        </p:spPr>
      </p:sp>
      <p:pic>
        <p:nvPicPr>
          <p:cNvPr id="31" name="Image 1" descr="preencoded.png">    </p:cNvPr>
          <p:cNvPicPr>
            <a:picLocks noChangeAspect="1"/>
          </p:cNvPicPr>
          <p:nvPr/>
        </p:nvPicPr>
        <p:blipFill>
          <a:blip r:embed="rId2"/>
          <a:stretch>
            <a:fillRect/>
          </a:stretch>
        </p:blipFill>
        <p:spPr>
          <a:xfrm>
            <a:off x="6583680" y="2651760"/>
            <a:ext cx="347472" cy="347472"/>
          </a:xfrm>
          <a:prstGeom prst="rect">
            <a:avLst/>
          </a:prstGeom>
        </p:spPr>
      </p:pic>
      <p:sp>
        <p:nvSpPr>
          <p:cNvPr id="32" name="Text 28"/>
          <p:cNvSpPr/>
          <p:nvPr/>
        </p:nvSpPr>
        <p:spPr>
          <a:xfrm>
            <a:off x="7086600" y="2404872"/>
            <a:ext cx="443484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Disaster Recovery Ready</a:t>
            </a:r>
            <a:endParaRPr lang="en-US" sz="1300" dirty="0"/>
          </a:p>
        </p:txBody>
      </p:sp>
      <p:sp>
        <p:nvSpPr>
          <p:cNvPr id="33" name="Text 29"/>
          <p:cNvSpPr/>
          <p:nvPr/>
        </p:nvSpPr>
        <p:spPr>
          <a:xfrm>
            <a:off x="7086600" y="2788920"/>
            <a:ext cx="4434840" cy="658368"/>
          </a:xfrm>
          <a:prstGeom prst="rect">
            <a:avLst/>
          </a:prstGeom>
          <a:noFill/>
          <a:ln/>
        </p:spPr>
        <p:txBody>
          <a:bodyPr wrap="square" lIns="0" tIns="0" rIns="0" bIns="0" rtlCol="0" anchor="ctr"/>
          <a:lstStyle/>
          <a:p>
            <a:pPr indent="0" marL="0">
              <a:buNone/>
            </a:pPr>
            <a:r>
              <a:rPr lang="en-US" sz="1050" dirty="0">
                <a:solidFill>
                  <a:srgbClr val="A8BBCC"/>
                </a:solidFill>
                <a:latin typeface="Calibri" pitchFamily="34" charset="0"/>
                <a:ea typeface="Calibri" pitchFamily="34" charset="-122"/>
                <a:cs typeface="Calibri" pitchFamily="34" charset="-120"/>
              </a:rPr>
              <a:t>Full environment rebuild in under 30 minutes. Run terraform apply and NexaBank is live in any Azure region.</a:t>
            </a:r>
            <a:endParaRPr lang="en-US" sz="1050" dirty="0"/>
          </a:p>
        </p:txBody>
      </p:sp>
      <p:sp>
        <p:nvSpPr>
          <p:cNvPr id="34" name="Shape 30"/>
          <p:cNvSpPr/>
          <p:nvPr/>
        </p:nvSpPr>
        <p:spPr>
          <a:xfrm>
            <a:off x="6400800" y="3749040"/>
            <a:ext cx="5349240" cy="1234440"/>
          </a:xfrm>
          <a:prstGeom prst="roundRect">
            <a:avLst>
              <a:gd name="adj" fmla="val 8889"/>
            </a:avLst>
          </a:prstGeom>
          <a:solidFill>
            <a:srgbClr val="112347"/>
          </a:solidFill>
          <a:ln w="12700">
            <a:solidFill>
              <a:srgbClr val="1A3A5C"/>
            </a:solidFill>
            <a:prstDash val="solid"/>
          </a:ln>
          <a:effectLst>
            <a:outerShdw sx="100000" sy="100000" kx="0" ky="0" algn="bl" rotWithShape="0" blurRad="76200" dist="25400" dir="2700000">
              <a:srgbClr val="000000">
                <a:alpha val="18000"/>
              </a:srgbClr>
            </a:outerShdw>
          </a:effectLst>
        </p:spPr>
      </p:sp>
      <p:pic>
        <p:nvPicPr>
          <p:cNvPr id="35" name="Image 2" descr="preencoded.png">    </p:cNvPr>
          <p:cNvPicPr>
            <a:picLocks noChangeAspect="1"/>
          </p:cNvPicPr>
          <p:nvPr/>
        </p:nvPicPr>
        <p:blipFill>
          <a:blip r:embed="rId3"/>
          <a:stretch>
            <a:fillRect/>
          </a:stretch>
        </p:blipFill>
        <p:spPr>
          <a:xfrm>
            <a:off x="6583680" y="4069080"/>
            <a:ext cx="347472" cy="347472"/>
          </a:xfrm>
          <a:prstGeom prst="rect">
            <a:avLst/>
          </a:prstGeom>
        </p:spPr>
      </p:pic>
      <p:sp>
        <p:nvSpPr>
          <p:cNvPr id="36" name="Text 31"/>
          <p:cNvSpPr/>
          <p:nvPr/>
        </p:nvSpPr>
        <p:spPr>
          <a:xfrm>
            <a:off x="7086600" y="3822192"/>
            <a:ext cx="443484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Peer-Reviewed Infrastructure</a:t>
            </a:r>
            <a:endParaRPr lang="en-US" sz="1300" dirty="0"/>
          </a:p>
        </p:txBody>
      </p:sp>
      <p:sp>
        <p:nvSpPr>
          <p:cNvPr id="37" name="Text 32"/>
          <p:cNvSpPr/>
          <p:nvPr/>
        </p:nvSpPr>
        <p:spPr>
          <a:xfrm>
            <a:off x="7086600" y="4206240"/>
            <a:ext cx="4434840" cy="658368"/>
          </a:xfrm>
          <a:prstGeom prst="rect">
            <a:avLst/>
          </a:prstGeom>
          <a:noFill/>
          <a:ln/>
        </p:spPr>
        <p:txBody>
          <a:bodyPr wrap="square" lIns="0" tIns="0" rIns="0" bIns="0" rtlCol="0" anchor="ctr"/>
          <a:lstStyle/>
          <a:p>
            <a:pPr indent="0" marL="0">
              <a:buNone/>
            </a:pPr>
            <a:r>
              <a:rPr lang="en-US" sz="1050" dirty="0">
                <a:solidFill>
                  <a:srgbClr val="A8BBCC"/>
                </a:solidFill>
                <a:latin typeface="Calibri" pitchFamily="34" charset="0"/>
                <a:ea typeface="Calibri" pitchFamily="34" charset="-122"/>
                <a:cs typeface="Calibri" pitchFamily="34" charset="-120"/>
              </a:rPr>
              <a:t>IaC lives in Git. Every infrastructure change goes through pull request review, just like application code.</a:t>
            </a:r>
            <a:endParaRPr lang="en-US" sz="1050" dirty="0"/>
          </a:p>
        </p:txBody>
      </p:sp>
      <p:sp>
        <p:nvSpPr>
          <p:cNvPr id="38" name="Shape 33"/>
          <p:cNvSpPr/>
          <p:nvPr/>
        </p:nvSpPr>
        <p:spPr>
          <a:xfrm>
            <a:off x="6400800" y="5166360"/>
            <a:ext cx="5349240" cy="1234440"/>
          </a:xfrm>
          <a:prstGeom prst="roundRect">
            <a:avLst>
              <a:gd name="adj" fmla="val 8889"/>
            </a:avLst>
          </a:prstGeom>
          <a:solidFill>
            <a:srgbClr val="112347"/>
          </a:solidFill>
          <a:ln w="12700">
            <a:solidFill>
              <a:srgbClr val="1A3A5C"/>
            </a:solidFill>
            <a:prstDash val="solid"/>
          </a:ln>
          <a:effectLst>
            <a:outerShdw sx="100000" sy="100000" kx="0" ky="0" algn="bl" rotWithShape="0" blurRad="76200" dist="25400" dir="2700000">
              <a:srgbClr val="000000">
                <a:alpha val="18000"/>
              </a:srgbClr>
            </a:outerShdw>
          </a:effectLst>
        </p:spPr>
      </p:sp>
      <p:pic>
        <p:nvPicPr>
          <p:cNvPr id="39" name="Image 3" descr="preencoded.png">    </p:cNvPr>
          <p:cNvPicPr>
            <a:picLocks noChangeAspect="1"/>
          </p:cNvPicPr>
          <p:nvPr/>
        </p:nvPicPr>
        <p:blipFill>
          <a:blip r:embed="rId4"/>
          <a:stretch>
            <a:fillRect/>
          </a:stretch>
        </p:blipFill>
        <p:spPr>
          <a:xfrm>
            <a:off x="6583680" y="5486400"/>
            <a:ext cx="347472" cy="347472"/>
          </a:xfrm>
          <a:prstGeom prst="rect">
            <a:avLst/>
          </a:prstGeom>
        </p:spPr>
      </p:pic>
      <p:sp>
        <p:nvSpPr>
          <p:cNvPr id="40" name="Text 34"/>
          <p:cNvSpPr/>
          <p:nvPr/>
        </p:nvSpPr>
        <p:spPr>
          <a:xfrm>
            <a:off x="7086600" y="5239512"/>
            <a:ext cx="443484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Cost Optimisation</a:t>
            </a:r>
            <a:endParaRPr lang="en-US" sz="1300" dirty="0"/>
          </a:p>
        </p:txBody>
      </p:sp>
      <p:sp>
        <p:nvSpPr>
          <p:cNvPr id="41" name="Text 35"/>
          <p:cNvSpPr/>
          <p:nvPr/>
        </p:nvSpPr>
        <p:spPr>
          <a:xfrm>
            <a:off x="7086600" y="5623560"/>
            <a:ext cx="4434840" cy="658368"/>
          </a:xfrm>
          <a:prstGeom prst="rect">
            <a:avLst/>
          </a:prstGeom>
          <a:noFill/>
          <a:ln/>
        </p:spPr>
        <p:txBody>
          <a:bodyPr wrap="square" lIns="0" tIns="0" rIns="0" bIns="0" rtlCol="0" anchor="ctr"/>
          <a:lstStyle/>
          <a:p>
            <a:pPr indent="0" marL="0">
              <a:buNone/>
            </a:pPr>
            <a:r>
              <a:rPr lang="en-US" sz="1050" dirty="0">
                <a:solidFill>
                  <a:srgbClr val="A8BBCC"/>
                </a:solidFill>
                <a:latin typeface="Calibri" pitchFamily="34" charset="0"/>
                <a:ea typeface="Calibri" pitchFamily="34" charset="-122"/>
                <a:cs typeface="Calibri" pitchFamily="34" charset="-120"/>
              </a:rPr>
              <a:t>Dev and staging environments can be destroyed overnight and recreated each morning, cutting non-prod Azure costs.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2040"/>
          </a:solidFill>
          <a:ln w="12700">
            <a:solidFill>
              <a:srgbClr val="0D2040"/>
            </a:solidFill>
            <a:prstDash val="solid"/>
          </a:ln>
        </p:spPr>
      </p:sp>
      <p:sp>
        <p:nvSpPr>
          <p:cNvPr id="3" name="Shape 1"/>
          <p:cNvSpPr/>
          <p:nvPr/>
        </p:nvSpPr>
        <p:spPr>
          <a:xfrm>
            <a:off x="228600" y="137160"/>
            <a:ext cx="384048" cy="384048"/>
          </a:xfrm>
          <a:prstGeom prst="ellipse">
            <a:avLst/>
          </a:prstGeom>
          <a:solidFill>
            <a:srgbClr val="00C8FF">
              <a:alpha val="80000"/>
            </a:srgbClr>
          </a:solidFill>
          <a:ln w="12700">
            <a:solidFill>
              <a:srgbClr val="00C8FF"/>
            </a:solidFill>
            <a:prstDash val="solid"/>
          </a:ln>
        </p:spPr>
      </p:sp>
      <p:sp>
        <p:nvSpPr>
          <p:cNvPr id="4" name="Shape 2"/>
          <p:cNvSpPr/>
          <p:nvPr/>
        </p:nvSpPr>
        <p:spPr>
          <a:xfrm>
            <a:off x="502920" y="256032"/>
            <a:ext cx="164592" cy="164592"/>
          </a:xfrm>
          <a:prstGeom prst="ellipse">
            <a:avLst/>
          </a:prstGeom>
          <a:solidFill>
            <a:srgbClr val="00C8FF">
              <a:alpha val="60000"/>
            </a:srgbClr>
          </a:solidFill>
          <a:ln w="12700">
            <a:solidFill>
              <a:srgbClr val="00C8FF"/>
            </a:solidFill>
            <a:prstDash val="solid"/>
          </a:ln>
        </p:spPr>
      </p:sp>
      <p:sp>
        <p:nvSpPr>
          <p:cNvPr id="5" name="Text 3"/>
          <p:cNvSpPr/>
          <p:nvPr/>
        </p:nvSpPr>
        <p:spPr>
          <a:xfrm>
            <a:off x="777240" y="73152"/>
            <a:ext cx="6858000" cy="50292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Challenges Faced</a:t>
            </a:r>
            <a:endParaRPr lang="en-US" sz="2200" dirty="0"/>
          </a:p>
        </p:txBody>
      </p:sp>
      <p:sp>
        <p:nvSpPr>
          <p:cNvPr id="6" name="Text 4"/>
          <p:cNvSpPr/>
          <p:nvPr/>
        </p:nvSpPr>
        <p:spPr>
          <a:xfrm>
            <a:off x="777240" y="73152"/>
            <a:ext cx="6858000" cy="502920"/>
          </a:xfrm>
          <a:prstGeom prst="rect">
            <a:avLst/>
          </a:prstGeom>
          <a:noFill/>
          <a:ln/>
        </p:spPr>
        <p:txBody>
          <a:bodyPr wrap="square" lIns="0" tIns="0" rIns="0" bIns="0" rtlCol="0" anchor="ctr"/>
          <a:lstStyle/>
          <a:p>
            <a:pPr algn="r" indent="0" marL="0">
              <a:buNone/>
            </a:pPr>
            <a:r>
              <a:rPr lang="en-US" sz="1300" dirty="0">
                <a:solidFill>
                  <a:srgbClr val="00C8FF"/>
                </a:solidFill>
                <a:latin typeface="Calibri" pitchFamily="34" charset="0"/>
                <a:ea typeface="Calibri" pitchFamily="34" charset="-122"/>
                <a:cs typeface="Calibri" pitchFamily="34" charset="-120"/>
              </a:rPr>
              <a:t>Real-World Friction During Build &amp; Deployment</a:t>
            </a:r>
            <a:endParaRPr lang="en-US" sz="1300" dirty="0"/>
          </a:p>
        </p:txBody>
      </p:sp>
      <p:sp>
        <p:nvSpPr>
          <p:cNvPr id="7" name="Shape 5"/>
          <p:cNvSpPr/>
          <p:nvPr/>
        </p:nvSpPr>
        <p:spPr>
          <a:xfrm>
            <a:off x="8412480" y="109728"/>
            <a:ext cx="548640" cy="438912"/>
          </a:xfrm>
          <a:prstGeom prst="roundRect">
            <a:avLst>
              <a:gd name="adj" fmla="val 16667"/>
            </a:avLst>
          </a:prstGeom>
          <a:solidFill>
            <a:srgbClr val="00C8FF"/>
          </a:solidFill>
          <a:ln w="12700">
            <a:solidFill>
              <a:srgbClr val="00C8FF"/>
            </a:solidFill>
            <a:prstDash val="solid"/>
          </a:ln>
        </p:spPr>
      </p:sp>
      <p:sp>
        <p:nvSpPr>
          <p:cNvPr id="8" name="Text 6"/>
          <p:cNvSpPr/>
          <p:nvPr/>
        </p:nvSpPr>
        <p:spPr>
          <a:xfrm>
            <a:off x="457200" y="804672"/>
            <a:ext cx="1124712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What We Ran Into — And How We Solved It</a:t>
            </a:r>
            <a:endParaRPr lang="en-US" sz="2000" dirty="0"/>
          </a:p>
        </p:txBody>
      </p:sp>
      <p:sp>
        <p:nvSpPr>
          <p:cNvPr id="9" name="Shape 7"/>
          <p:cNvSpPr/>
          <p:nvPr/>
        </p:nvSpPr>
        <p:spPr>
          <a:xfrm>
            <a:off x="365760" y="1444752"/>
            <a:ext cx="5669280" cy="1600200"/>
          </a:xfrm>
          <a:prstGeom prst="roundRect">
            <a:avLst>
              <a:gd name="adj" fmla="val 6857"/>
            </a:avLst>
          </a:prstGeom>
          <a:solidFill>
            <a:srgbClr val="112347"/>
          </a:solidFill>
          <a:ln w="12700">
            <a:solidFill>
              <a:srgbClr val="FFB347"/>
            </a:solidFill>
            <a:prstDash val="solid"/>
          </a:ln>
          <a:effectLst>
            <a:outerShdw sx="100000" sy="100000" kx="0" ky="0" algn="bl" rotWithShape="0" blurRad="76200" dist="25400" dir="2700000">
              <a:srgbClr val="000000">
                <a:alpha val="18000"/>
              </a:srgbClr>
            </a:outerShdw>
          </a:effectLst>
        </p:spPr>
      </p:sp>
      <p:sp>
        <p:nvSpPr>
          <p:cNvPr id="10" name="Shape 8"/>
          <p:cNvSpPr/>
          <p:nvPr/>
        </p:nvSpPr>
        <p:spPr>
          <a:xfrm>
            <a:off x="530352" y="1572768"/>
            <a:ext cx="438912" cy="384048"/>
          </a:xfrm>
          <a:prstGeom prst="roundRect">
            <a:avLst>
              <a:gd name="adj" fmla="val 19048"/>
            </a:avLst>
          </a:prstGeom>
          <a:solidFill>
            <a:srgbClr val="FFB347">
              <a:alpha val="20000"/>
            </a:srgbClr>
          </a:solidFill>
          <a:ln w="12700">
            <a:solidFill>
              <a:srgbClr val="FFB347"/>
            </a:solidFill>
            <a:prstDash val="solid"/>
          </a:ln>
        </p:spPr>
      </p:sp>
      <p:sp>
        <p:nvSpPr>
          <p:cNvPr id="11" name="Text 9"/>
          <p:cNvSpPr/>
          <p:nvPr/>
        </p:nvSpPr>
        <p:spPr>
          <a:xfrm>
            <a:off x="530352" y="1572768"/>
            <a:ext cx="438912" cy="384048"/>
          </a:xfrm>
          <a:prstGeom prst="rect">
            <a:avLst/>
          </a:prstGeom>
          <a:noFill/>
          <a:ln/>
        </p:spPr>
        <p:txBody>
          <a:bodyPr wrap="square" lIns="0" tIns="0" rIns="0" bIns="0" rtlCol="0" anchor="ctr"/>
          <a:lstStyle/>
          <a:p>
            <a:pPr algn="ctr" indent="0" marL="0">
              <a:buNone/>
            </a:pPr>
            <a:r>
              <a:rPr lang="en-US" sz="1200" b="1" dirty="0">
                <a:solidFill>
                  <a:srgbClr val="FFB347"/>
                </a:solidFill>
                <a:latin typeface="Calibri" pitchFamily="34" charset="0"/>
                <a:ea typeface="Calibri" pitchFamily="34" charset="-122"/>
                <a:cs typeface="Calibri" pitchFamily="34" charset="-120"/>
              </a:rPr>
              <a:t>01</a:t>
            </a:r>
            <a:endParaRPr lang="en-US" sz="1200" dirty="0"/>
          </a:p>
        </p:txBody>
      </p:sp>
      <p:sp>
        <p:nvSpPr>
          <p:cNvPr id="12" name="Text 10"/>
          <p:cNvSpPr/>
          <p:nvPr/>
        </p:nvSpPr>
        <p:spPr>
          <a:xfrm>
            <a:off x="1097280" y="1536192"/>
            <a:ext cx="475488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Globally Unique Resource Names</a:t>
            </a:r>
            <a:endParaRPr lang="en-US" sz="1300" dirty="0"/>
          </a:p>
        </p:txBody>
      </p:sp>
      <p:sp>
        <p:nvSpPr>
          <p:cNvPr id="13" name="Text 11"/>
          <p:cNvSpPr/>
          <p:nvPr/>
        </p:nvSpPr>
        <p:spPr>
          <a:xfrm>
            <a:off x="530352" y="2011680"/>
            <a:ext cx="5321808" cy="475488"/>
          </a:xfrm>
          <a:prstGeom prst="rect">
            <a:avLst/>
          </a:prstGeom>
          <a:noFill/>
          <a:ln/>
        </p:spPr>
        <p:txBody>
          <a:bodyPr wrap="square" lIns="0" tIns="0" rIns="0" bIns="0" rtlCol="0" anchor="ctr"/>
          <a:lstStyle/>
          <a:p>
            <a:pPr indent="0" marL="0">
              <a:buNone/>
            </a:pPr>
            <a:r>
              <a:rPr lang="en-US" sz="950" dirty="0">
                <a:solidFill>
                  <a:srgbClr val="A8BBCC"/>
                </a:solidFill>
                <a:latin typeface="Calibri" pitchFamily="34" charset="0"/>
                <a:ea typeface="Calibri" pitchFamily="34" charset="-122"/>
                <a:cs typeface="Calibri" pitchFamily="34" charset="-120"/>
              </a:rPr>
              <a:t>⚠  Azure Storage Accounts, ACR, and Key Vault names must be globally unique across all Azure tenants. Random name collisions caused repeated Terraform apply failures during initial provisioning.</a:t>
            </a:r>
            <a:endParaRPr lang="en-US" sz="950" dirty="0"/>
          </a:p>
        </p:txBody>
      </p:sp>
      <p:sp>
        <p:nvSpPr>
          <p:cNvPr id="14" name="Text 12"/>
          <p:cNvSpPr/>
          <p:nvPr/>
        </p:nvSpPr>
        <p:spPr>
          <a:xfrm>
            <a:off x="530352" y="2523744"/>
            <a:ext cx="5321808" cy="411480"/>
          </a:xfrm>
          <a:prstGeom prst="rect">
            <a:avLst/>
          </a:prstGeom>
          <a:noFill/>
          <a:ln/>
        </p:spPr>
        <p:txBody>
          <a:bodyPr wrap="square" lIns="0" tIns="0" rIns="0" bIns="0" rtlCol="0" anchor="ctr"/>
          <a:lstStyle/>
          <a:p>
            <a:pPr indent="0" marL="0">
              <a:buNone/>
            </a:pPr>
            <a:r>
              <a:rPr lang="en-US" sz="950" dirty="0">
                <a:solidFill>
                  <a:srgbClr val="FFB347"/>
                </a:solidFill>
                <a:latin typeface="Calibri" pitchFamily="34" charset="0"/>
                <a:ea typeface="Calibri" pitchFamily="34" charset="-122"/>
                <a:cs typeface="Calibri" pitchFamily="34" charset="-120"/>
              </a:rPr>
              <a:t>✔  Adopted a consistent naming convention — {project}-{resource}-{env} with short suffixes — and added Terraform random_id for storage accounts to guarantee uniqueness on every run.</a:t>
            </a:r>
            <a:endParaRPr lang="en-US" sz="950" dirty="0"/>
          </a:p>
        </p:txBody>
      </p:sp>
      <p:sp>
        <p:nvSpPr>
          <p:cNvPr id="15" name="Shape 13"/>
          <p:cNvSpPr/>
          <p:nvPr/>
        </p:nvSpPr>
        <p:spPr>
          <a:xfrm>
            <a:off x="6309360" y="1444752"/>
            <a:ext cx="5669280" cy="1600200"/>
          </a:xfrm>
          <a:prstGeom prst="roundRect">
            <a:avLst>
              <a:gd name="adj" fmla="val 6857"/>
            </a:avLst>
          </a:prstGeom>
          <a:solidFill>
            <a:srgbClr val="112347"/>
          </a:solidFill>
          <a:ln w="12700">
            <a:solidFill>
              <a:srgbClr val="00C8FF"/>
            </a:solidFill>
            <a:prstDash val="solid"/>
          </a:ln>
          <a:effectLst>
            <a:outerShdw sx="100000" sy="100000" kx="0" ky="0" algn="bl" rotWithShape="0" blurRad="76200" dist="25400" dir="2700000">
              <a:srgbClr val="000000">
                <a:alpha val="18000"/>
              </a:srgbClr>
            </a:outerShdw>
          </a:effectLst>
        </p:spPr>
      </p:sp>
      <p:sp>
        <p:nvSpPr>
          <p:cNvPr id="16" name="Shape 14"/>
          <p:cNvSpPr/>
          <p:nvPr/>
        </p:nvSpPr>
        <p:spPr>
          <a:xfrm>
            <a:off x="6473952" y="1572768"/>
            <a:ext cx="438912" cy="384048"/>
          </a:xfrm>
          <a:prstGeom prst="roundRect">
            <a:avLst>
              <a:gd name="adj" fmla="val 19048"/>
            </a:avLst>
          </a:prstGeom>
          <a:solidFill>
            <a:srgbClr val="00C8FF">
              <a:alpha val="20000"/>
            </a:srgbClr>
          </a:solidFill>
          <a:ln w="12700">
            <a:solidFill>
              <a:srgbClr val="00C8FF"/>
            </a:solidFill>
            <a:prstDash val="solid"/>
          </a:ln>
        </p:spPr>
      </p:sp>
      <p:sp>
        <p:nvSpPr>
          <p:cNvPr id="17" name="Text 15"/>
          <p:cNvSpPr/>
          <p:nvPr/>
        </p:nvSpPr>
        <p:spPr>
          <a:xfrm>
            <a:off x="6473952" y="1572768"/>
            <a:ext cx="438912" cy="384048"/>
          </a:xfrm>
          <a:prstGeom prst="rect">
            <a:avLst/>
          </a:prstGeom>
          <a:noFill/>
          <a:ln/>
        </p:spPr>
        <p:txBody>
          <a:bodyPr wrap="square" lIns="0" tIns="0" rIns="0" bIns="0" rtlCol="0" anchor="ctr"/>
          <a:lstStyle/>
          <a:p>
            <a:pPr algn="ctr" indent="0" marL="0">
              <a:buNone/>
            </a:pPr>
            <a:r>
              <a:rPr lang="en-US" sz="1200" b="1" dirty="0">
                <a:solidFill>
                  <a:srgbClr val="00C8FF"/>
                </a:solidFill>
                <a:latin typeface="Calibri" pitchFamily="34" charset="0"/>
                <a:ea typeface="Calibri" pitchFamily="34" charset="-122"/>
                <a:cs typeface="Calibri" pitchFamily="34" charset="-120"/>
              </a:rPr>
              <a:t>02</a:t>
            </a:r>
            <a:endParaRPr lang="en-US" sz="1200" dirty="0"/>
          </a:p>
        </p:txBody>
      </p:sp>
      <p:sp>
        <p:nvSpPr>
          <p:cNvPr id="18" name="Text 16"/>
          <p:cNvSpPr/>
          <p:nvPr/>
        </p:nvSpPr>
        <p:spPr>
          <a:xfrm>
            <a:off x="7040880" y="1536192"/>
            <a:ext cx="475488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VM SKU / Size Not Available in Region</a:t>
            </a:r>
            <a:endParaRPr lang="en-US" sz="1300" dirty="0"/>
          </a:p>
        </p:txBody>
      </p:sp>
      <p:sp>
        <p:nvSpPr>
          <p:cNvPr id="19" name="Text 17"/>
          <p:cNvSpPr/>
          <p:nvPr/>
        </p:nvSpPr>
        <p:spPr>
          <a:xfrm>
            <a:off x="6473952" y="2011680"/>
            <a:ext cx="5321808" cy="475488"/>
          </a:xfrm>
          <a:prstGeom prst="rect">
            <a:avLst/>
          </a:prstGeom>
          <a:noFill/>
          <a:ln/>
        </p:spPr>
        <p:txBody>
          <a:bodyPr wrap="square" lIns="0" tIns="0" rIns="0" bIns="0" rtlCol="0" anchor="ctr"/>
          <a:lstStyle/>
          <a:p>
            <a:pPr indent="0" marL="0">
              <a:buNone/>
            </a:pPr>
            <a:r>
              <a:rPr lang="en-US" sz="950" dirty="0">
                <a:solidFill>
                  <a:srgbClr val="A8BBCC"/>
                </a:solidFill>
                <a:latin typeface="Calibri" pitchFamily="34" charset="0"/>
                <a:ea typeface="Calibri" pitchFamily="34" charset="-122"/>
                <a:cs typeface="Calibri" pitchFamily="34" charset="-120"/>
              </a:rPr>
              <a:t>⚠  Several AKS node pool VM sizes (e.g. Standard_D4s_v3) returned "SKU not available in location northeurope" errors, blocking cluster creation entirely mid-deployment.</a:t>
            </a:r>
            <a:endParaRPr lang="en-US" sz="950" dirty="0"/>
          </a:p>
        </p:txBody>
      </p:sp>
      <p:sp>
        <p:nvSpPr>
          <p:cNvPr id="20" name="Text 18"/>
          <p:cNvSpPr/>
          <p:nvPr/>
        </p:nvSpPr>
        <p:spPr>
          <a:xfrm>
            <a:off x="6473952" y="2523744"/>
            <a:ext cx="5321808" cy="411480"/>
          </a:xfrm>
          <a:prstGeom prst="rect">
            <a:avLst/>
          </a:prstGeom>
          <a:noFill/>
          <a:ln/>
        </p:spPr>
        <p:txBody>
          <a:bodyPr wrap="square" lIns="0" tIns="0" rIns="0" bIns="0" rtlCol="0" anchor="ctr"/>
          <a:lstStyle/>
          <a:p>
            <a:pPr indent="0" marL="0">
              <a:buNone/>
            </a:pPr>
            <a:r>
              <a:rPr lang="en-US" sz="950" dirty="0">
                <a:solidFill>
                  <a:srgbClr val="00C8FF"/>
                </a:solidFill>
                <a:latin typeface="Calibri" pitchFamily="34" charset="0"/>
                <a:ea typeface="Calibri" pitchFamily="34" charset="-122"/>
                <a:cs typeface="Calibri" pitchFamily="34" charset="-120"/>
              </a:rPr>
              <a:t>✔  Queried az vm list-skus --location northeurope to identify available sizes. Parameterised the node VM size in Terraform variables so it can be swapped per region without code changes.</a:t>
            </a:r>
            <a:endParaRPr lang="en-US" sz="950" dirty="0"/>
          </a:p>
        </p:txBody>
      </p:sp>
      <p:sp>
        <p:nvSpPr>
          <p:cNvPr id="21" name="Shape 19"/>
          <p:cNvSpPr/>
          <p:nvPr/>
        </p:nvSpPr>
        <p:spPr>
          <a:xfrm>
            <a:off x="365760" y="3182112"/>
            <a:ext cx="5669280" cy="1600200"/>
          </a:xfrm>
          <a:prstGeom prst="roundRect">
            <a:avLst>
              <a:gd name="adj" fmla="val 6857"/>
            </a:avLst>
          </a:prstGeom>
          <a:solidFill>
            <a:srgbClr val="112347"/>
          </a:solidFill>
          <a:ln w="12700">
            <a:solidFill>
              <a:srgbClr val="00D4A8"/>
            </a:solidFill>
            <a:prstDash val="solid"/>
          </a:ln>
          <a:effectLst>
            <a:outerShdw sx="100000" sy="100000" kx="0" ky="0" algn="bl" rotWithShape="0" blurRad="76200" dist="25400" dir="2700000">
              <a:srgbClr val="000000">
                <a:alpha val="18000"/>
              </a:srgbClr>
            </a:outerShdw>
          </a:effectLst>
        </p:spPr>
      </p:sp>
      <p:sp>
        <p:nvSpPr>
          <p:cNvPr id="22" name="Shape 20"/>
          <p:cNvSpPr/>
          <p:nvPr/>
        </p:nvSpPr>
        <p:spPr>
          <a:xfrm>
            <a:off x="530352" y="3310128"/>
            <a:ext cx="438912" cy="384048"/>
          </a:xfrm>
          <a:prstGeom prst="roundRect">
            <a:avLst>
              <a:gd name="adj" fmla="val 19048"/>
            </a:avLst>
          </a:prstGeom>
          <a:solidFill>
            <a:srgbClr val="00D4A8">
              <a:alpha val="20000"/>
            </a:srgbClr>
          </a:solidFill>
          <a:ln w="12700">
            <a:solidFill>
              <a:srgbClr val="00D4A8"/>
            </a:solidFill>
            <a:prstDash val="solid"/>
          </a:ln>
        </p:spPr>
      </p:sp>
      <p:sp>
        <p:nvSpPr>
          <p:cNvPr id="23" name="Text 21"/>
          <p:cNvSpPr/>
          <p:nvPr/>
        </p:nvSpPr>
        <p:spPr>
          <a:xfrm>
            <a:off x="530352" y="3310128"/>
            <a:ext cx="438912" cy="384048"/>
          </a:xfrm>
          <a:prstGeom prst="rect">
            <a:avLst/>
          </a:prstGeom>
          <a:noFill/>
          <a:ln/>
        </p:spPr>
        <p:txBody>
          <a:bodyPr wrap="square" lIns="0" tIns="0" rIns="0" bIns="0" rtlCol="0" anchor="ctr"/>
          <a:lstStyle/>
          <a:p>
            <a:pPr algn="ctr" indent="0" marL="0">
              <a:buNone/>
            </a:pPr>
            <a:r>
              <a:rPr lang="en-US" sz="1200" b="1" dirty="0">
                <a:solidFill>
                  <a:srgbClr val="00D4A8"/>
                </a:solidFill>
                <a:latin typeface="Calibri" pitchFamily="34" charset="0"/>
                <a:ea typeface="Calibri" pitchFamily="34" charset="-122"/>
                <a:cs typeface="Calibri" pitchFamily="34" charset="-120"/>
              </a:rPr>
              <a:t>03</a:t>
            </a:r>
            <a:endParaRPr lang="en-US" sz="1200" dirty="0"/>
          </a:p>
        </p:txBody>
      </p:sp>
      <p:sp>
        <p:nvSpPr>
          <p:cNvPr id="24" name="Text 22"/>
          <p:cNvSpPr/>
          <p:nvPr/>
        </p:nvSpPr>
        <p:spPr>
          <a:xfrm>
            <a:off x="1097280" y="3273552"/>
            <a:ext cx="475488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CSI Secrets Store &amp; Workload Identity Binding</a:t>
            </a:r>
            <a:endParaRPr lang="en-US" sz="1300" dirty="0"/>
          </a:p>
        </p:txBody>
      </p:sp>
      <p:sp>
        <p:nvSpPr>
          <p:cNvPr id="25" name="Text 23"/>
          <p:cNvSpPr/>
          <p:nvPr/>
        </p:nvSpPr>
        <p:spPr>
          <a:xfrm>
            <a:off x="530352" y="3749040"/>
            <a:ext cx="5321808" cy="475488"/>
          </a:xfrm>
          <a:prstGeom prst="rect">
            <a:avLst/>
          </a:prstGeom>
          <a:noFill/>
          <a:ln/>
        </p:spPr>
        <p:txBody>
          <a:bodyPr wrap="square" lIns="0" tIns="0" rIns="0" bIns="0" rtlCol="0" anchor="ctr"/>
          <a:lstStyle/>
          <a:p>
            <a:pPr indent="0" marL="0">
              <a:buNone/>
            </a:pPr>
            <a:r>
              <a:rPr lang="en-US" sz="950" dirty="0">
                <a:solidFill>
                  <a:srgbClr val="A8BBCC"/>
                </a:solidFill>
                <a:latin typeface="Calibri" pitchFamily="34" charset="0"/>
                <a:ea typeface="Calibri" pitchFamily="34" charset="-122"/>
                <a:cs typeface="Calibri" pitchFamily="34" charset="-120"/>
              </a:rPr>
              <a:t>⚠  Pods couldn't mount Key Vault secrets — the CSI driver would silently fail. Root cause: the AKS OIDC issuer URL wasn't wired to the Federated Identity Credential on the Managed Identity.</a:t>
            </a:r>
            <a:endParaRPr lang="en-US" sz="950" dirty="0"/>
          </a:p>
        </p:txBody>
      </p:sp>
      <p:sp>
        <p:nvSpPr>
          <p:cNvPr id="26" name="Text 24"/>
          <p:cNvSpPr/>
          <p:nvPr/>
        </p:nvSpPr>
        <p:spPr>
          <a:xfrm>
            <a:off x="530352" y="4261104"/>
            <a:ext cx="5321808" cy="411480"/>
          </a:xfrm>
          <a:prstGeom prst="rect">
            <a:avLst/>
          </a:prstGeom>
          <a:noFill/>
          <a:ln/>
        </p:spPr>
        <p:txBody>
          <a:bodyPr wrap="square" lIns="0" tIns="0" rIns="0" bIns="0" rtlCol="0" anchor="ctr"/>
          <a:lstStyle/>
          <a:p>
            <a:pPr indent="0" marL="0">
              <a:buNone/>
            </a:pPr>
            <a:r>
              <a:rPr lang="en-US" sz="950" dirty="0">
                <a:solidFill>
                  <a:srgbClr val="00D4A8"/>
                </a:solidFill>
                <a:latin typeface="Calibri" pitchFamily="34" charset="0"/>
                <a:ea typeface="Calibri" pitchFamily="34" charset="-122"/>
                <a:cs typeface="Calibri" pitchFamily="34" charset="-120"/>
              </a:rPr>
              <a:t>✔  Explicitly exported the OIDC issuer from the AKS Terraform module and passed it into the azurerm_federated_identity_credential resource. Added a pod annotation validator to the pipeline.</a:t>
            </a:r>
            <a:endParaRPr lang="en-US" sz="950" dirty="0"/>
          </a:p>
        </p:txBody>
      </p:sp>
      <p:sp>
        <p:nvSpPr>
          <p:cNvPr id="27" name="Shape 25"/>
          <p:cNvSpPr/>
          <p:nvPr/>
        </p:nvSpPr>
        <p:spPr>
          <a:xfrm>
            <a:off x="6309360" y="3182112"/>
            <a:ext cx="5669280" cy="1600200"/>
          </a:xfrm>
          <a:prstGeom prst="roundRect">
            <a:avLst>
              <a:gd name="adj" fmla="val 6857"/>
            </a:avLst>
          </a:prstGeom>
          <a:solidFill>
            <a:srgbClr val="112347"/>
          </a:solidFill>
          <a:ln w="12700">
            <a:solidFill>
              <a:srgbClr val="8B5CF6"/>
            </a:solidFill>
            <a:prstDash val="solid"/>
          </a:ln>
          <a:effectLst>
            <a:outerShdw sx="100000" sy="100000" kx="0" ky="0" algn="bl" rotWithShape="0" blurRad="76200" dist="25400" dir="2700000">
              <a:srgbClr val="000000">
                <a:alpha val="18000"/>
              </a:srgbClr>
            </a:outerShdw>
          </a:effectLst>
        </p:spPr>
      </p:sp>
      <p:sp>
        <p:nvSpPr>
          <p:cNvPr id="28" name="Shape 26"/>
          <p:cNvSpPr/>
          <p:nvPr/>
        </p:nvSpPr>
        <p:spPr>
          <a:xfrm>
            <a:off x="6473952" y="3310128"/>
            <a:ext cx="438912" cy="384048"/>
          </a:xfrm>
          <a:prstGeom prst="roundRect">
            <a:avLst>
              <a:gd name="adj" fmla="val 19048"/>
            </a:avLst>
          </a:prstGeom>
          <a:solidFill>
            <a:srgbClr val="8B5CF6">
              <a:alpha val="20000"/>
            </a:srgbClr>
          </a:solidFill>
          <a:ln w="12700">
            <a:solidFill>
              <a:srgbClr val="8B5CF6"/>
            </a:solidFill>
            <a:prstDash val="solid"/>
          </a:ln>
        </p:spPr>
      </p:sp>
      <p:sp>
        <p:nvSpPr>
          <p:cNvPr id="29" name="Text 27"/>
          <p:cNvSpPr/>
          <p:nvPr/>
        </p:nvSpPr>
        <p:spPr>
          <a:xfrm>
            <a:off x="6473952" y="3310128"/>
            <a:ext cx="438912" cy="384048"/>
          </a:xfrm>
          <a:prstGeom prst="rect">
            <a:avLst/>
          </a:prstGeom>
          <a:noFill/>
          <a:ln/>
        </p:spPr>
        <p:txBody>
          <a:bodyPr wrap="square" lIns="0" tIns="0" rIns="0" bIns="0" rtlCol="0" anchor="ctr"/>
          <a:lstStyle/>
          <a:p>
            <a:pPr algn="ctr" indent="0" marL="0">
              <a:buNone/>
            </a:pPr>
            <a:r>
              <a:rPr lang="en-US" sz="1200" b="1" dirty="0">
                <a:solidFill>
                  <a:srgbClr val="8B5CF6"/>
                </a:solidFill>
                <a:latin typeface="Calibri" pitchFamily="34" charset="0"/>
                <a:ea typeface="Calibri" pitchFamily="34" charset="-122"/>
                <a:cs typeface="Calibri" pitchFamily="34" charset="-120"/>
              </a:rPr>
              <a:t>04</a:t>
            </a:r>
            <a:endParaRPr lang="en-US" sz="1200" dirty="0"/>
          </a:p>
        </p:txBody>
      </p:sp>
      <p:sp>
        <p:nvSpPr>
          <p:cNvPr id="30" name="Text 28"/>
          <p:cNvSpPr/>
          <p:nvPr/>
        </p:nvSpPr>
        <p:spPr>
          <a:xfrm>
            <a:off x="7040880" y="3273552"/>
            <a:ext cx="475488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Private DNS Zone &amp; AKS DNS Conflicts</a:t>
            </a:r>
            <a:endParaRPr lang="en-US" sz="1300" dirty="0"/>
          </a:p>
        </p:txBody>
      </p:sp>
      <p:sp>
        <p:nvSpPr>
          <p:cNvPr id="31" name="Text 29"/>
          <p:cNvSpPr/>
          <p:nvPr/>
        </p:nvSpPr>
        <p:spPr>
          <a:xfrm>
            <a:off x="6473952" y="3749040"/>
            <a:ext cx="5321808" cy="475488"/>
          </a:xfrm>
          <a:prstGeom prst="rect">
            <a:avLst/>
          </a:prstGeom>
          <a:noFill/>
          <a:ln/>
        </p:spPr>
        <p:txBody>
          <a:bodyPr wrap="square" lIns="0" tIns="0" rIns="0" bIns="0" rtlCol="0" anchor="ctr"/>
          <a:lstStyle/>
          <a:p>
            <a:pPr indent="0" marL="0">
              <a:buNone/>
            </a:pPr>
            <a:r>
              <a:rPr lang="en-US" sz="950" dirty="0">
                <a:solidFill>
                  <a:srgbClr val="A8BBCC"/>
                </a:solidFill>
                <a:latin typeface="Calibri" pitchFamily="34" charset="0"/>
                <a:ea typeface="Calibri" pitchFamily="34" charset="-122"/>
                <a:cs typeface="Calibri" pitchFamily="34" charset="-120"/>
              </a:rPr>
              <a:t>⚠  The custom Private DNS Zone for PostgreSQL (privatelink.postgres.database.azure.com) conflicted with AKS CoreDNS, causing intermittent DB connection timeouts inside the cluster.</a:t>
            </a:r>
            <a:endParaRPr lang="en-US" sz="950" dirty="0"/>
          </a:p>
        </p:txBody>
      </p:sp>
      <p:sp>
        <p:nvSpPr>
          <p:cNvPr id="32" name="Text 30"/>
          <p:cNvSpPr/>
          <p:nvPr/>
        </p:nvSpPr>
        <p:spPr>
          <a:xfrm>
            <a:off x="6473952" y="4261104"/>
            <a:ext cx="5321808" cy="411480"/>
          </a:xfrm>
          <a:prstGeom prst="rect">
            <a:avLst/>
          </a:prstGeom>
          <a:noFill/>
          <a:ln/>
        </p:spPr>
        <p:txBody>
          <a:bodyPr wrap="square" lIns="0" tIns="0" rIns="0" bIns="0" rtlCol="0" anchor="ctr"/>
          <a:lstStyle/>
          <a:p>
            <a:pPr indent="0" marL="0">
              <a:buNone/>
            </a:pPr>
            <a:r>
              <a:rPr lang="en-US" sz="950" dirty="0">
                <a:solidFill>
                  <a:srgbClr val="8B5CF6"/>
                </a:solidFill>
                <a:latin typeface="Calibri" pitchFamily="34" charset="0"/>
                <a:ea typeface="Calibri" pitchFamily="34" charset="-122"/>
                <a:cs typeface="Calibri" pitchFamily="34" charset="-120"/>
              </a:rPr>
              <a:t>✔  Linked the Private DNS Zone to the AKS VNet explicitly in Terraform (azurerm_private_dns_zone_virtual_network_link) and configured CoreDNS with a stub zone to forward postgres DNS queries correctly.</a:t>
            </a:r>
            <a:endParaRPr lang="en-US" sz="950" dirty="0"/>
          </a:p>
        </p:txBody>
      </p:sp>
      <p:sp>
        <p:nvSpPr>
          <p:cNvPr id="33" name="Shape 31"/>
          <p:cNvSpPr/>
          <p:nvPr/>
        </p:nvSpPr>
        <p:spPr>
          <a:xfrm>
            <a:off x="365760" y="4919472"/>
            <a:ext cx="5669280" cy="1600200"/>
          </a:xfrm>
          <a:prstGeom prst="roundRect">
            <a:avLst>
              <a:gd name="adj" fmla="val 6857"/>
            </a:avLst>
          </a:prstGeom>
          <a:solidFill>
            <a:srgbClr val="112347"/>
          </a:solidFill>
          <a:ln w="12700">
            <a:solidFill>
              <a:srgbClr val="FFB347"/>
            </a:solidFill>
            <a:prstDash val="solid"/>
          </a:ln>
          <a:effectLst>
            <a:outerShdw sx="100000" sy="100000" kx="0" ky="0" algn="bl" rotWithShape="0" blurRad="76200" dist="25400" dir="2700000">
              <a:srgbClr val="000000">
                <a:alpha val="18000"/>
              </a:srgbClr>
            </a:outerShdw>
          </a:effectLst>
        </p:spPr>
      </p:sp>
      <p:sp>
        <p:nvSpPr>
          <p:cNvPr id="34" name="Shape 32"/>
          <p:cNvSpPr/>
          <p:nvPr/>
        </p:nvSpPr>
        <p:spPr>
          <a:xfrm>
            <a:off x="530352" y="5047488"/>
            <a:ext cx="438912" cy="384048"/>
          </a:xfrm>
          <a:prstGeom prst="roundRect">
            <a:avLst>
              <a:gd name="adj" fmla="val 19048"/>
            </a:avLst>
          </a:prstGeom>
          <a:solidFill>
            <a:srgbClr val="FFB347">
              <a:alpha val="20000"/>
            </a:srgbClr>
          </a:solidFill>
          <a:ln w="12700">
            <a:solidFill>
              <a:srgbClr val="FFB347"/>
            </a:solidFill>
            <a:prstDash val="solid"/>
          </a:ln>
        </p:spPr>
      </p:sp>
      <p:sp>
        <p:nvSpPr>
          <p:cNvPr id="35" name="Text 33"/>
          <p:cNvSpPr/>
          <p:nvPr/>
        </p:nvSpPr>
        <p:spPr>
          <a:xfrm>
            <a:off x="530352" y="5047488"/>
            <a:ext cx="438912" cy="384048"/>
          </a:xfrm>
          <a:prstGeom prst="rect">
            <a:avLst/>
          </a:prstGeom>
          <a:noFill/>
          <a:ln/>
        </p:spPr>
        <p:txBody>
          <a:bodyPr wrap="square" lIns="0" tIns="0" rIns="0" bIns="0" rtlCol="0" anchor="ctr"/>
          <a:lstStyle/>
          <a:p>
            <a:pPr algn="ctr" indent="0" marL="0">
              <a:buNone/>
            </a:pPr>
            <a:r>
              <a:rPr lang="en-US" sz="1200" b="1" dirty="0">
                <a:solidFill>
                  <a:srgbClr val="FFB347"/>
                </a:solidFill>
                <a:latin typeface="Calibri" pitchFamily="34" charset="0"/>
                <a:ea typeface="Calibri" pitchFamily="34" charset="-122"/>
                <a:cs typeface="Calibri" pitchFamily="34" charset="-120"/>
              </a:rPr>
              <a:t>05</a:t>
            </a:r>
            <a:endParaRPr lang="en-US" sz="1200" dirty="0"/>
          </a:p>
        </p:txBody>
      </p:sp>
      <p:sp>
        <p:nvSpPr>
          <p:cNvPr id="36" name="Text 34"/>
          <p:cNvSpPr/>
          <p:nvPr/>
        </p:nvSpPr>
        <p:spPr>
          <a:xfrm>
            <a:off x="1097280" y="5010912"/>
            <a:ext cx="475488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Application Gateway Ingress (AGIC) Sync Lag</a:t>
            </a:r>
            <a:endParaRPr lang="en-US" sz="1300" dirty="0"/>
          </a:p>
        </p:txBody>
      </p:sp>
      <p:sp>
        <p:nvSpPr>
          <p:cNvPr id="37" name="Text 35"/>
          <p:cNvSpPr/>
          <p:nvPr/>
        </p:nvSpPr>
        <p:spPr>
          <a:xfrm>
            <a:off x="530352" y="5486400"/>
            <a:ext cx="5321808" cy="475488"/>
          </a:xfrm>
          <a:prstGeom prst="rect">
            <a:avLst/>
          </a:prstGeom>
          <a:noFill/>
          <a:ln/>
        </p:spPr>
        <p:txBody>
          <a:bodyPr wrap="square" lIns="0" tIns="0" rIns="0" bIns="0" rtlCol="0" anchor="ctr"/>
          <a:lstStyle/>
          <a:p>
            <a:pPr indent="0" marL="0">
              <a:buNone/>
            </a:pPr>
            <a:r>
              <a:rPr lang="en-US" sz="950" dirty="0">
                <a:solidFill>
                  <a:srgbClr val="A8BBCC"/>
                </a:solidFill>
                <a:latin typeface="Calibri" pitchFamily="34" charset="0"/>
                <a:ea typeface="Calibri" pitchFamily="34" charset="-122"/>
                <a:cs typeface="Calibri" pitchFamily="34" charset="-120"/>
              </a:rPr>
              <a:t>⚠  After deploying new Kubernetes Ingress rules, Application Gateway took 2–4 minutes to reflect routing changes, causing 502 errors during rolling deployments in the early pipeline setup.</a:t>
            </a:r>
            <a:endParaRPr lang="en-US" sz="950" dirty="0"/>
          </a:p>
        </p:txBody>
      </p:sp>
      <p:sp>
        <p:nvSpPr>
          <p:cNvPr id="38" name="Text 36"/>
          <p:cNvSpPr/>
          <p:nvPr/>
        </p:nvSpPr>
        <p:spPr>
          <a:xfrm>
            <a:off x="530352" y="5998464"/>
            <a:ext cx="5321808" cy="411480"/>
          </a:xfrm>
          <a:prstGeom prst="rect">
            <a:avLst/>
          </a:prstGeom>
          <a:noFill/>
          <a:ln/>
        </p:spPr>
        <p:txBody>
          <a:bodyPr wrap="square" lIns="0" tIns="0" rIns="0" bIns="0" rtlCol="0" anchor="ctr"/>
          <a:lstStyle/>
          <a:p>
            <a:pPr indent="0" marL="0">
              <a:buNone/>
            </a:pPr>
            <a:r>
              <a:rPr lang="en-US" sz="950" dirty="0">
                <a:solidFill>
                  <a:srgbClr val="FFB347"/>
                </a:solidFill>
                <a:latin typeface="Calibri" pitchFamily="34" charset="0"/>
                <a:ea typeface="Calibri" pitchFamily="34" charset="-122"/>
                <a:cs typeface="Calibri" pitchFamily="34" charset="-120"/>
              </a:rPr>
              <a:t>✔  Implemented readiness probes on all pods and set minReadySeconds on deployments. Added a pipeline health-check step that polls the AGIC sync status before marking a deployment successful.</a:t>
            </a:r>
            <a:endParaRPr lang="en-US" sz="950" dirty="0"/>
          </a:p>
        </p:txBody>
      </p:sp>
      <p:sp>
        <p:nvSpPr>
          <p:cNvPr id="39" name="Shape 37"/>
          <p:cNvSpPr/>
          <p:nvPr/>
        </p:nvSpPr>
        <p:spPr>
          <a:xfrm>
            <a:off x="6309360" y="4919472"/>
            <a:ext cx="5669280" cy="1600200"/>
          </a:xfrm>
          <a:prstGeom prst="roundRect">
            <a:avLst>
              <a:gd name="adj" fmla="val 6857"/>
            </a:avLst>
          </a:prstGeom>
          <a:solidFill>
            <a:srgbClr val="112347"/>
          </a:solidFill>
          <a:ln w="12700">
            <a:solidFill>
              <a:srgbClr val="00C8FF"/>
            </a:solidFill>
            <a:prstDash val="solid"/>
          </a:ln>
          <a:effectLst>
            <a:outerShdw sx="100000" sy="100000" kx="0" ky="0" algn="bl" rotWithShape="0" blurRad="76200" dist="25400" dir="2700000">
              <a:srgbClr val="000000">
                <a:alpha val="18000"/>
              </a:srgbClr>
            </a:outerShdw>
          </a:effectLst>
        </p:spPr>
      </p:sp>
      <p:sp>
        <p:nvSpPr>
          <p:cNvPr id="40" name="Shape 38"/>
          <p:cNvSpPr/>
          <p:nvPr/>
        </p:nvSpPr>
        <p:spPr>
          <a:xfrm>
            <a:off x="6473952" y="5047488"/>
            <a:ext cx="438912" cy="384048"/>
          </a:xfrm>
          <a:prstGeom prst="roundRect">
            <a:avLst>
              <a:gd name="adj" fmla="val 19048"/>
            </a:avLst>
          </a:prstGeom>
          <a:solidFill>
            <a:srgbClr val="00C8FF">
              <a:alpha val="20000"/>
            </a:srgbClr>
          </a:solidFill>
          <a:ln w="12700">
            <a:solidFill>
              <a:srgbClr val="00C8FF"/>
            </a:solidFill>
            <a:prstDash val="solid"/>
          </a:ln>
        </p:spPr>
      </p:sp>
      <p:sp>
        <p:nvSpPr>
          <p:cNvPr id="41" name="Text 39"/>
          <p:cNvSpPr/>
          <p:nvPr/>
        </p:nvSpPr>
        <p:spPr>
          <a:xfrm>
            <a:off x="6473952" y="5047488"/>
            <a:ext cx="438912" cy="384048"/>
          </a:xfrm>
          <a:prstGeom prst="rect">
            <a:avLst/>
          </a:prstGeom>
          <a:noFill/>
          <a:ln/>
        </p:spPr>
        <p:txBody>
          <a:bodyPr wrap="square" lIns="0" tIns="0" rIns="0" bIns="0" rtlCol="0" anchor="ctr"/>
          <a:lstStyle/>
          <a:p>
            <a:pPr algn="ctr" indent="0" marL="0">
              <a:buNone/>
            </a:pPr>
            <a:r>
              <a:rPr lang="en-US" sz="1200" b="1" dirty="0">
                <a:solidFill>
                  <a:srgbClr val="00C8FF"/>
                </a:solidFill>
                <a:latin typeface="Calibri" pitchFamily="34" charset="0"/>
                <a:ea typeface="Calibri" pitchFamily="34" charset="-122"/>
                <a:cs typeface="Calibri" pitchFamily="34" charset="-120"/>
              </a:rPr>
              <a:t>06</a:t>
            </a:r>
            <a:endParaRPr lang="en-US" sz="1200" dirty="0"/>
          </a:p>
        </p:txBody>
      </p:sp>
      <p:sp>
        <p:nvSpPr>
          <p:cNvPr id="42" name="Text 40"/>
          <p:cNvSpPr/>
          <p:nvPr/>
        </p:nvSpPr>
        <p:spPr>
          <a:xfrm>
            <a:off x="7040880" y="5010912"/>
            <a:ext cx="475488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Terraform State Locking &amp; Team Conflicts</a:t>
            </a:r>
            <a:endParaRPr lang="en-US" sz="1300" dirty="0"/>
          </a:p>
        </p:txBody>
      </p:sp>
      <p:sp>
        <p:nvSpPr>
          <p:cNvPr id="43" name="Text 41"/>
          <p:cNvSpPr/>
          <p:nvPr/>
        </p:nvSpPr>
        <p:spPr>
          <a:xfrm>
            <a:off x="6473952" y="5486400"/>
            <a:ext cx="5321808" cy="475488"/>
          </a:xfrm>
          <a:prstGeom prst="rect">
            <a:avLst/>
          </a:prstGeom>
          <a:noFill/>
          <a:ln/>
        </p:spPr>
        <p:txBody>
          <a:bodyPr wrap="square" lIns="0" tIns="0" rIns="0" bIns="0" rtlCol="0" anchor="ctr"/>
          <a:lstStyle/>
          <a:p>
            <a:pPr indent="0" marL="0">
              <a:buNone/>
            </a:pPr>
            <a:r>
              <a:rPr lang="en-US" sz="950" dirty="0">
                <a:solidFill>
                  <a:srgbClr val="A8BBCC"/>
                </a:solidFill>
                <a:latin typeface="Calibri" pitchFamily="34" charset="0"/>
                <a:ea typeface="Calibri" pitchFamily="34" charset="-122"/>
                <a:cs typeface="Calibri" pitchFamily="34" charset="-120"/>
              </a:rPr>
              <a:t>⚠  Concurrent terraform apply runs from different team members corrupted the remote state file in Azure Blob Storage, causing plan/apply mismatches and requiring manual state surgery.</a:t>
            </a:r>
            <a:endParaRPr lang="en-US" sz="950" dirty="0"/>
          </a:p>
        </p:txBody>
      </p:sp>
      <p:sp>
        <p:nvSpPr>
          <p:cNvPr id="44" name="Text 42"/>
          <p:cNvSpPr/>
          <p:nvPr/>
        </p:nvSpPr>
        <p:spPr>
          <a:xfrm>
            <a:off x="6473952" y="5998464"/>
            <a:ext cx="5321808" cy="411480"/>
          </a:xfrm>
          <a:prstGeom prst="rect">
            <a:avLst/>
          </a:prstGeom>
          <a:noFill/>
          <a:ln/>
        </p:spPr>
        <p:txBody>
          <a:bodyPr wrap="square" lIns="0" tIns="0" rIns="0" bIns="0" rtlCol="0" anchor="ctr"/>
          <a:lstStyle/>
          <a:p>
            <a:pPr indent="0" marL="0">
              <a:buNone/>
            </a:pPr>
            <a:r>
              <a:rPr lang="en-US" sz="950" dirty="0">
                <a:solidFill>
                  <a:srgbClr val="00C8FF"/>
                </a:solidFill>
                <a:latin typeface="Calibri" pitchFamily="34" charset="0"/>
                <a:ea typeface="Calibri" pitchFamily="34" charset="-122"/>
                <a:cs typeface="Calibri" pitchFamily="34" charset="-120"/>
              </a:rPr>
              <a:t>✔  Enforced remote state with a dedicated storage account and container. Enabled lease-based state locking (Azure Blob native). Added branch protection so only the pipeline can run terraform apply on main.</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12161520" cy="1463040"/>
          </a:xfrm>
          <a:prstGeom prst="rect">
            <a:avLst/>
          </a:prstGeom>
          <a:solidFill>
            <a:srgbClr val="0D2040"/>
          </a:solidFill>
          <a:ln w="12700">
            <a:solidFill>
              <a:srgbClr val="0D2040"/>
            </a:solidFill>
            <a:prstDash val="solid"/>
          </a:ln>
        </p:spPr>
      </p:sp>
      <p:pic>
        <p:nvPicPr>
          <p:cNvPr id="3" name="Image 0" descr="preencoded.png">    </p:cNvPr>
          <p:cNvPicPr>
            <a:picLocks noChangeAspect="1"/>
          </p:cNvPicPr>
          <p:nvPr/>
        </p:nvPicPr>
        <p:blipFill>
          <a:blip r:embed="rId1"/>
          <a:stretch>
            <a:fillRect/>
          </a:stretch>
        </p:blipFill>
        <p:spPr>
          <a:xfrm>
            <a:off x="457200" y="347472"/>
            <a:ext cx="777240" cy="777240"/>
          </a:xfrm>
          <a:prstGeom prst="rect">
            <a:avLst/>
          </a:prstGeom>
        </p:spPr>
      </p:pic>
      <p:sp>
        <p:nvSpPr>
          <p:cNvPr id="4" name="Text 1"/>
          <p:cNvSpPr/>
          <p:nvPr/>
        </p:nvSpPr>
        <p:spPr>
          <a:xfrm>
            <a:off x="1463040" y="109728"/>
            <a:ext cx="8686800" cy="685800"/>
          </a:xfrm>
          <a:prstGeom prst="rect">
            <a:avLst/>
          </a:prstGeom>
          <a:noFill/>
          <a:ln/>
        </p:spPr>
        <p:txBody>
          <a:bodyPr wrap="square" lIns="0" tIns="0" rIns="0" bIns="0" rtlCol="0" anchor="b"/>
          <a:lstStyle/>
          <a:p>
            <a:pPr indent="0" marL="0">
              <a:buNone/>
            </a:pPr>
            <a:r>
              <a:rPr lang="en-US" sz="3000" b="1" dirty="0">
                <a:solidFill>
                  <a:srgbClr val="FFFFFF"/>
                </a:solidFill>
                <a:latin typeface="Cambria" pitchFamily="34" charset="0"/>
                <a:ea typeface="Cambria" pitchFamily="34" charset="-122"/>
                <a:cs typeface="Cambria" pitchFamily="34" charset="-120"/>
              </a:rPr>
              <a:t>Business Impact &amp; ROI</a:t>
            </a:r>
            <a:endParaRPr lang="en-US" sz="3000" dirty="0"/>
          </a:p>
        </p:txBody>
      </p:sp>
      <p:sp>
        <p:nvSpPr>
          <p:cNvPr id="5" name="Text 2"/>
          <p:cNvSpPr/>
          <p:nvPr/>
        </p:nvSpPr>
        <p:spPr>
          <a:xfrm>
            <a:off x="1463040" y="804672"/>
            <a:ext cx="8686800" cy="457200"/>
          </a:xfrm>
          <a:prstGeom prst="rect">
            <a:avLst/>
          </a:prstGeom>
          <a:noFill/>
          <a:ln/>
        </p:spPr>
        <p:txBody>
          <a:bodyPr wrap="square" lIns="0" tIns="0" rIns="0" bIns="0" rtlCol="0" anchor="ctr"/>
          <a:lstStyle/>
          <a:p>
            <a:pPr indent="0" marL="0">
              <a:buNone/>
            </a:pPr>
            <a:r>
              <a:rPr lang="en-US" sz="1400" dirty="0">
                <a:solidFill>
                  <a:srgbClr val="00C8FF"/>
                </a:solidFill>
                <a:latin typeface="Calibri" pitchFamily="34" charset="0"/>
                <a:ea typeface="Calibri" pitchFamily="34" charset="-122"/>
                <a:cs typeface="Calibri" pitchFamily="34" charset="-120"/>
              </a:rPr>
              <a:t>Why NexaBank Delivers Measurable Competitive Advantage</a:t>
            </a:r>
            <a:endParaRPr lang="en-US" sz="1400" dirty="0"/>
          </a:p>
        </p:txBody>
      </p:sp>
      <p:sp>
        <p:nvSpPr>
          <p:cNvPr id="6" name="Shape 3"/>
          <p:cNvSpPr/>
          <p:nvPr/>
        </p:nvSpPr>
        <p:spPr>
          <a:xfrm>
            <a:off x="365760" y="1645920"/>
            <a:ext cx="2697480" cy="1600200"/>
          </a:xfrm>
          <a:prstGeom prst="roundRect">
            <a:avLst>
              <a:gd name="adj" fmla="val 8571"/>
            </a:avLst>
          </a:prstGeom>
          <a:solidFill>
            <a:srgbClr val="112347"/>
          </a:solidFill>
          <a:ln w="12700">
            <a:solidFill>
              <a:srgbClr val="00C8FF"/>
            </a:solidFill>
            <a:prstDash val="solid"/>
          </a:ln>
          <a:effectLst>
            <a:outerShdw sx="100000" sy="100000" kx="0" ky="0" algn="bl" rotWithShape="0" blurRad="127000" dist="38100" dir="2700000">
              <a:srgbClr val="000000">
                <a:alpha val="25000"/>
              </a:srgbClr>
            </a:outerShdw>
          </a:effectLst>
        </p:spPr>
      </p:sp>
      <p:sp>
        <p:nvSpPr>
          <p:cNvPr id="7" name="Text 4"/>
          <p:cNvSpPr/>
          <p:nvPr/>
        </p:nvSpPr>
        <p:spPr>
          <a:xfrm>
            <a:off x="365760" y="1783080"/>
            <a:ext cx="2697480" cy="777240"/>
          </a:xfrm>
          <a:prstGeom prst="rect">
            <a:avLst/>
          </a:prstGeom>
          <a:noFill/>
          <a:ln/>
        </p:spPr>
        <p:txBody>
          <a:bodyPr wrap="square" lIns="0" tIns="0" rIns="0" bIns="0" rtlCol="0" anchor="ctr"/>
          <a:lstStyle/>
          <a:p>
            <a:pPr algn="ctr" indent="0" marL="0">
              <a:buNone/>
            </a:pPr>
            <a:r>
              <a:rPr lang="en-US" sz="3800" b="1" dirty="0">
                <a:solidFill>
                  <a:srgbClr val="00C8FF"/>
                </a:solidFill>
                <a:latin typeface="Cambria" pitchFamily="34" charset="0"/>
                <a:ea typeface="Cambria" pitchFamily="34" charset="-122"/>
                <a:cs typeface="Cambria" pitchFamily="34" charset="-120"/>
              </a:rPr>
              <a:t>&lt; 5 min</a:t>
            </a:r>
            <a:endParaRPr lang="en-US" sz="3800" dirty="0"/>
          </a:p>
        </p:txBody>
      </p:sp>
      <p:sp>
        <p:nvSpPr>
          <p:cNvPr id="8" name="Text 5"/>
          <p:cNvSpPr/>
          <p:nvPr/>
        </p:nvSpPr>
        <p:spPr>
          <a:xfrm>
            <a:off x="365760" y="2578608"/>
            <a:ext cx="269748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Feature Deployment</a:t>
            </a:r>
            <a:endParaRPr lang="en-US" sz="1200" dirty="0"/>
          </a:p>
        </p:txBody>
      </p:sp>
      <p:sp>
        <p:nvSpPr>
          <p:cNvPr id="9" name="Text 6"/>
          <p:cNvSpPr/>
          <p:nvPr/>
        </p:nvSpPr>
        <p:spPr>
          <a:xfrm>
            <a:off x="365760" y="2907792"/>
            <a:ext cx="2697480" cy="274320"/>
          </a:xfrm>
          <a:prstGeom prst="rect">
            <a:avLst/>
          </a:prstGeom>
          <a:noFill/>
          <a:ln/>
        </p:spPr>
        <p:txBody>
          <a:bodyPr wrap="square" lIns="0" tIns="0" rIns="0" bIns="0" rtlCol="0" anchor="ctr"/>
          <a:lstStyle/>
          <a:p>
            <a:pPr algn="ctr" indent="0" marL="0">
              <a:buNone/>
            </a:pPr>
            <a:r>
              <a:rPr lang="en-US" sz="1000" i="1" dirty="0">
                <a:solidFill>
                  <a:srgbClr val="5A7A9A"/>
                </a:solidFill>
                <a:latin typeface="Calibri" pitchFamily="34" charset="0"/>
                <a:ea typeface="Calibri" pitchFamily="34" charset="-122"/>
                <a:cs typeface="Calibri" pitchFamily="34" charset="-120"/>
              </a:rPr>
              <a:t>vs weeks with monolith</a:t>
            </a:r>
            <a:endParaRPr lang="en-US" sz="1000" dirty="0"/>
          </a:p>
        </p:txBody>
      </p:sp>
      <p:sp>
        <p:nvSpPr>
          <p:cNvPr id="10" name="Shape 7"/>
          <p:cNvSpPr/>
          <p:nvPr/>
        </p:nvSpPr>
        <p:spPr>
          <a:xfrm>
            <a:off x="3246120" y="1645920"/>
            <a:ext cx="2697480" cy="1600200"/>
          </a:xfrm>
          <a:prstGeom prst="roundRect">
            <a:avLst>
              <a:gd name="adj" fmla="val 8571"/>
            </a:avLst>
          </a:prstGeom>
          <a:solidFill>
            <a:srgbClr val="112347"/>
          </a:solidFill>
          <a:ln w="12700">
            <a:solidFill>
              <a:srgbClr val="00D4A8"/>
            </a:solidFill>
            <a:prstDash val="solid"/>
          </a:ln>
          <a:effectLst>
            <a:outerShdw sx="100000" sy="100000" kx="0" ky="0" algn="bl" rotWithShape="0" blurRad="127000" dist="38100" dir="2700000">
              <a:srgbClr val="000000">
                <a:alpha val="25000"/>
              </a:srgbClr>
            </a:outerShdw>
          </a:effectLst>
        </p:spPr>
      </p:sp>
      <p:sp>
        <p:nvSpPr>
          <p:cNvPr id="11" name="Text 8"/>
          <p:cNvSpPr/>
          <p:nvPr/>
        </p:nvSpPr>
        <p:spPr>
          <a:xfrm>
            <a:off x="3246120" y="1783080"/>
            <a:ext cx="2697480" cy="777240"/>
          </a:xfrm>
          <a:prstGeom prst="rect">
            <a:avLst/>
          </a:prstGeom>
          <a:noFill/>
          <a:ln/>
        </p:spPr>
        <p:txBody>
          <a:bodyPr wrap="square" lIns="0" tIns="0" rIns="0" bIns="0" rtlCol="0" anchor="ctr"/>
          <a:lstStyle/>
          <a:p>
            <a:pPr algn="ctr" indent="0" marL="0">
              <a:buNone/>
            </a:pPr>
            <a:r>
              <a:rPr lang="en-US" sz="3800" b="1" dirty="0">
                <a:solidFill>
                  <a:srgbClr val="00D4A8"/>
                </a:solidFill>
                <a:latin typeface="Cambria" pitchFamily="34" charset="0"/>
                <a:ea typeface="Cambria" pitchFamily="34" charset="-122"/>
                <a:cs typeface="Cambria" pitchFamily="34" charset="-120"/>
              </a:rPr>
              <a:t>99.99%</a:t>
            </a:r>
            <a:endParaRPr lang="en-US" sz="3800" dirty="0"/>
          </a:p>
        </p:txBody>
      </p:sp>
      <p:sp>
        <p:nvSpPr>
          <p:cNvPr id="12" name="Text 9"/>
          <p:cNvSpPr/>
          <p:nvPr/>
        </p:nvSpPr>
        <p:spPr>
          <a:xfrm>
            <a:off x="3246120" y="2578608"/>
            <a:ext cx="269748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Platform Uptime SLA</a:t>
            </a:r>
            <a:endParaRPr lang="en-US" sz="1200" dirty="0"/>
          </a:p>
        </p:txBody>
      </p:sp>
      <p:sp>
        <p:nvSpPr>
          <p:cNvPr id="13" name="Text 10"/>
          <p:cNvSpPr/>
          <p:nvPr/>
        </p:nvSpPr>
        <p:spPr>
          <a:xfrm>
            <a:off x="3246120" y="2907792"/>
            <a:ext cx="2697480" cy="274320"/>
          </a:xfrm>
          <a:prstGeom prst="rect">
            <a:avLst/>
          </a:prstGeom>
          <a:noFill/>
          <a:ln/>
        </p:spPr>
        <p:txBody>
          <a:bodyPr wrap="square" lIns="0" tIns="0" rIns="0" bIns="0" rtlCol="0" anchor="ctr"/>
          <a:lstStyle/>
          <a:p>
            <a:pPr algn="ctr" indent="0" marL="0">
              <a:buNone/>
            </a:pPr>
            <a:r>
              <a:rPr lang="en-US" sz="1000" i="1" dirty="0">
                <a:solidFill>
                  <a:srgbClr val="5A7A9A"/>
                </a:solidFill>
                <a:latin typeface="Calibri" pitchFamily="34" charset="0"/>
                <a:ea typeface="Calibri" pitchFamily="34" charset="-122"/>
                <a:cs typeface="Calibri" pitchFamily="34" charset="-120"/>
              </a:rPr>
              <a:t>Multi-zone AKS + WAF</a:t>
            </a:r>
            <a:endParaRPr lang="en-US" sz="1000" dirty="0"/>
          </a:p>
        </p:txBody>
      </p:sp>
      <p:sp>
        <p:nvSpPr>
          <p:cNvPr id="14" name="Shape 11"/>
          <p:cNvSpPr/>
          <p:nvPr/>
        </p:nvSpPr>
        <p:spPr>
          <a:xfrm>
            <a:off x="6126480" y="1645920"/>
            <a:ext cx="2697480" cy="1600200"/>
          </a:xfrm>
          <a:prstGeom prst="roundRect">
            <a:avLst>
              <a:gd name="adj" fmla="val 8571"/>
            </a:avLst>
          </a:prstGeom>
          <a:solidFill>
            <a:srgbClr val="112347"/>
          </a:solidFill>
          <a:ln w="12700">
            <a:solidFill>
              <a:srgbClr val="FFB347"/>
            </a:solidFill>
            <a:prstDash val="solid"/>
          </a:ln>
          <a:effectLst>
            <a:outerShdw sx="100000" sy="100000" kx="0" ky="0" algn="bl" rotWithShape="0" blurRad="127000" dist="38100" dir="2700000">
              <a:srgbClr val="000000">
                <a:alpha val="25000"/>
              </a:srgbClr>
            </a:outerShdw>
          </a:effectLst>
        </p:spPr>
      </p:sp>
      <p:sp>
        <p:nvSpPr>
          <p:cNvPr id="15" name="Text 12"/>
          <p:cNvSpPr/>
          <p:nvPr/>
        </p:nvSpPr>
        <p:spPr>
          <a:xfrm>
            <a:off x="6126480" y="1783080"/>
            <a:ext cx="2697480" cy="777240"/>
          </a:xfrm>
          <a:prstGeom prst="rect">
            <a:avLst/>
          </a:prstGeom>
          <a:noFill/>
          <a:ln/>
        </p:spPr>
        <p:txBody>
          <a:bodyPr wrap="square" lIns="0" tIns="0" rIns="0" bIns="0" rtlCol="0" anchor="ctr"/>
          <a:lstStyle/>
          <a:p>
            <a:pPr algn="ctr" indent="0" marL="0">
              <a:buNone/>
            </a:pPr>
            <a:r>
              <a:rPr lang="en-US" sz="3800" b="1" dirty="0">
                <a:solidFill>
                  <a:srgbClr val="FFB347"/>
                </a:solidFill>
                <a:latin typeface="Cambria" pitchFamily="34" charset="0"/>
                <a:ea typeface="Cambria" pitchFamily="34" charset="-122"/>
                <a:cs typeface="Cambria" pitchFamily="34" charset="-120"/>
              </a:rPr>
              <a:t>10×</a:t>
            </a:r>
            <a:endParaRPr lang="en-US" sz="3800" dirty="0"/>
          </a:p>
        </p:txBody>
      </p:sp>
      <p:sp>
        <p:nvSpPr>
          <p:cNvPr id="16" name="Text 13"/>
          <p:cNvSpPr/>
          <p:nvPr/>
        </p:nvSpPr>
        <p:spPr>
          <a:xfrm>
            <a:off x="6126480" y="2578608"/>
            <a:ext cx="269748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Traffic Spike Handling</a:t>
            </a:r>
            <a:endParaRPr lang="en-US" sz="1200" dirty="0"/>
          </a:p>
        </p:txBody>
      </p:sp>
      <p:sp>
        <p:nvSpPr>
          <p:cNvPr id="17" name="Text 14"/>
          <p:cNvSpPr/>
          <p:nvPr/>
        </p:nvSpPr>
        <p:spPr>
          <a:xfrm>
            <a:off x="6126480" y="2907792"/>
            <a:ext cx="2697480" cy="274320"/>
          </a:xfrm>
          <a:prstGeom prst="rect">
            <a:avLst/>
          </a:prstGeom>
          <a:noFill/>
          <a:ln/>
        </p:spPr>
        <p:txBody>
          <a:bodyPr wrap="square" lIns="0" tIns="0" rIns="0" bIns="0" rtlCol="0" anchor="ctr"/>
          <a:lstStyle/>
          <a:p>
            <a:pPr algn="ctr" indent="0" marL="0">
              <a:buNone/>
            </a:pPr>
            <a:r>
              <a:rPr lang="en-US" sz="1000" i="1" dirty="0">
                <a:solidFill>
                  <a:srgbClr val="5A7A9A"/>
                </a:solidFill>
                <a:latin typeface="Calibri" pitchFamily="34" charset="0"/>
                <a:ea typeface="Calibri" pitchFamily="34" charset="-122"/>
                <a:cs typeface="Calibri" pitchFamily="34" charset="-120"/>
              </a:rPr>
              <a:t>Horizontal pod autoscaling</a:t>
            </a:r>
            <a:endParaRPr lang="en-US" sz="1000" dirty="0"/>
          </a:p>
        </p:txBody>
      </p:sp>
      <p:sp>
        <p:nvSpPr>
          <p:cNvPr id="18" name="Shape 15"/>
          <p:cNvSpPr/>
          <p:nvPr/>
        </p:nvSpPr>
        <p:spPr>
          <a:xfrm>
            <a:off x="9006840" y="1645920"/>
            <a:ext cx="2697480" cy="1600200"/>
          </a:xfrm>
          <a:prstGeom prst="roundRect">
            <a:avLst>
              <a:gd name="adj" fmla="val 8571"/>
            </a:avLst>
          </a:prstGeom>
          <a:solidFill>
            <a:srgbClr val="112347"/>
          </a:solidFill>
          <a:ln w="12700">
            <a:solidFill>
              <a:srgbClr val="8B5CF6"/>
            </a:solidFill>
            <a:prstDash val="solid"/>
          </a:ln>
          <a:effectLst>
            <a:outerShdw sx="100000" sy="100000" kx="0" ky="0" algn="bl" rotWithShape="0" blurRad="127000" dist="38100" dir="2700000">
              <a:srgbClr val="000000">
                <a:alpha val="25000"/>
              </a:srgbClr>
            </a:outerShdw>
          </a:effectLst>
        </p:spPr>
      </p:sp>
      <p:sp>
        <p:nvSpPr>
          <p:cNvPr id="19" name="Text 16"/>
          <p:cNvSpPr/>
          <p:nvPr/>
        </p:nvSpPr>
        <p:spPr>
          <a:xfrm>
            <a:off x="9006840" y="1783080"/>
            <a:ext cx="2697480" cy="777240"/>
          </a:xfrm>
          <a:prstGeom prst="rect">
            <a:avLst/>
          </a:prstGeom>
          <a:noFill/>
          <a:ln/>
        </p:spPr>
        <p:txBody>
          <a:bodyPr wrap="square" lIns="0" tIns="0" rIns="0" bIns="0" rtlCol="0" anchor="ctr"/>
          <a:lstStyle/>
          <a:p>
            <a:pPr algn="ctr" indent="0" marL="0">
              <a:buNone/>
            </a:pPr>
            <a:r>
              <a:rPr lang="en-US" sz="3800" b="1" dirty="0">
                <a:solidFill>
                  <a:srgbClr val="8B5CF6"/>
                </a:solidFill>
                <a:latin typeface="Cambria" pitchFamily="34" charset="0"/>
                <a:ea typeface="Cambria" pitchFamily="34" charset="-122"/>
                <a:cs typeface="Cambria" pitchFamily="34" charset="-120"/>
              </a:rPr>
              <a:t>~40%</a:t>
            </a:r>
            <a:endParaRPr lang="en-US" sz="3800" dirty="0"/>
          </a:p>
        </p:txBody>
      </p:sp>
      <p:sp>
        <p:nvSpPr>
          <p:cNvPr id="20" name="Text 17"/>
          <p:cNvSpPr/>
          <p:nvPr/>
        </p:nvSpPr>
        <p:spPr>
          <a:xfrm>
            <a:off x="9006840" y="2578608"/>
            <a:ext cx="269748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Infrastructure Cost Saving</a:t>
            </a:r>
            <a:endParaRPr lang="en-US" sz="1200" dirty="0"/>
          </a:p>
        </p:txBody>
      </p:sp>
      <p:sp>
        <p:nvSpPr>
          <p:cNvPr id="21" name="Text 18"/>
          <p:cNvSpPr/>
          <p:nvPr/>
        </p:nvSpPr>
        <p:spPr>
          <a:xfrm>
            <a:off x="9006840" y="2907792"/>
            <a:ext cx="2697480" cy="274320"/>
          </a:xfrm>
          <a:prstGeom prst="rect">
            <a:avLst/>
          </a:prstGeom>
          <a:noFill/>
          <a:ln/>
        </p:spPr>
        <p:txBody>
          <a:bodyPr wrap="square" lIns="0" tIns="0" rIns="0" bIns="0" rtlCol="0" anchor="ctr"/>
          <a:lstStyle/>
          <a:p>
            <a:pPr algn="ctr" indent="0" marL="0">
              <a:buNone/>
            </a:pPr>
            <a:r>
              <a:rPr lang="en-US" sz="1000" i="1" dirty="0">
                <a:solidFill>
                  <a:srgbClr val="5A7A9A"/>
                </a:solidFill>
                <a:latin typeface="Calibri" pitchFamily="34" charset="0"/>
                <a:ea typeface="Calibri" pitchFamily="34" charset="-122"/>
                <a:cs typeface="Calibri" pitchFamily="34" charset="-120"/>
              </a:rPr>
              <a:t>IaC + right-sizing</a:t>
            </a:r>
            <a:endParaRPr lang="en-US" sz="1000" dirty="0"/>
          </a:p>
        </p:txBody>
      </p:sp>
      <p:sp>
        <p:nvSpPr>
          <p:cNvPr id="22" name="Shape 19"/>
          <p:cNvSpPr/>
          <p:nvPr/>
        </p:nvSpPr>
        <p:spPr>
          <a:xfrm>
            <a:off x="365760" y="3429000"/>
            <a:ext cx="5623560" cy="1234440"/>
          </a:xfrm>
          <a:prstGeom prst="roundRect">
            <a:avLst>
              <a:gd name="adj" fmla="val 8889"/>
            </a:avLst>
          </a:prstGeom>
          <a:solidFill>
            <a:srgbClr val="112347"/>
          </a:solidFill>
          <a:ln w="12700">
            <a:solidFill>
              <a:srgbClr val="1A3A5C"/>
            </a:solidFill>
            <a:prstDash val="solid"/>
          </a:ln>
          <a:effectLst>
            <a:outerShdw sx="100000" sy="100000" kx="0" ky="0" algn="bl" rotWithShape="0" blurRad="76200" dist="25400" dir="2700000">
              <a:srgbClr val="000000">
                <a:alpha val="18000"/>
              </a:srgbClr>
            </a:outerShdw>
          </a:effectLst>
        </p:spPr>
      </p:sp>
      <p:pic>
        <p:nvPicPr>
          <p:cNvPr id="23" name="Image 1" descr="preencoded.png">    </p:cNvPr>
          <p:cNvPicPr>
            <a:picLocks noChangeAspect="1"/>
          </p:cNvPicPr>
          <p:nvPr/>
        </p:nvPicPr>
        <p:blipFill>
          <a:blip r:embed="rId2"/>
          <a:stretch>
            <a:fillRect/>
          </a:stretch>
        </p:blipFill>
        <p:spPr>
          <a:xfrm>
            <a:off x="548640" y="3776472"/>
            <a:ext cx="384048" cy="384048"/>
          </a:xfrm>
          <a:prstGeom prst="rect">
            <a:avLst/>
          </a:prstGeom>
        </p:spPr>
      </p:pic>
      <p:sp>
        <p:nvSpPr>
          <p:cNvPr id="24" name="Text 20"/>
          <p:cNvSpPr/>
          <p:nvPr/>
        </p:nvSpPr>
        <p:spPr>
          <a:xfrm>
            <a:off x="1078992" y="3520440"/>
            <a:ext cx="470916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Faster Time-to-Market</a:t>
            </a:r>
            <a:endParaRPr lang="en-US" sz="1300" dirty="0"/>
          </a:p>
        </p:txBody>
      </p:sp>
      <p:sp>
        <p:nvSpPr>
          <p:cNvPr id="25" name="Text 21"/>
          <p:cNvSpPr/>
          <p:nvPr/>
        </p:nvSpPr>
        <p:spPr>
          <a:xfrm>
            <a:off x="1078992" y="3886200"/>
            <a:ext cx="4709160" cy="658368"/>
          </a:xfrm>
          <a:prstGeom prst="rect">
            <a:avLst/>
          </a:prstGeom>
          <a:noFill/>
          <a:ln/>
        </p:spPr>
        <p:txBody>
          <a:bodyPr wrap="square" lIns="0" tIns="0" rIns="0" bIns="0" rtlCol="0" anchor="ctr"/>
          <a:lstStyle/>
          <a:p>
            <a:pPr indent="0" marL="0">
              <a:buNone/>
            </a:pPr>
            <a:r>
              <a:rPr lang="en-US" sz="1050" dirty="0">
                <a:solidFill>
                  <a:srgbClr val="A8BBCC"/>
                </a:solidFill>
                <a:latin typeface="Calibri" pitchFamily="34" charset="0"/>
                <a:ea typeface="Calibri" pitchFamily="34" charset="-122"/>
                <a:cs typeface="Calibri" pitchFamily="34" charset="-120"/>
              </a:rPr>
              <a:t>Independent service deployments decouple feature releases. Product teams ship without waiting for a full monolith release cycle.</a:t>
            </a:r>
            <a:endParaRPr lang="en-US" sz="1050" dirty="0"/>
          </a:p>
        </p:txBody>
      </p:sp>
      <p:sp>
        <p:nvSpPr>
          <p:cNvPr id="26" name="Shape 22"/>
          <p:cNvSpPr/>
          <p:nvPr/>
        </p:nvSpPr>
        <p:spPr>
          <a:xfrm>
            <a:off x="6263640" y="3429000"/>
            <a:ext cx="5623560" cy="1234440"/>
          </a:xfrm>
          <a:prstGeom prst="roundRect">
            <a:avLst>
              <a:gd name="adj" fmla="val 8889"/>
            </a:avLst>
          </a:prstGeom>
          <a:solidFill>
            <a:srgbClr val="112347"/>
          </a:solidFill>
          <a:ln w="12700">
            <a:solidFill>
              <a:srgbClr val="1A3A5C"/>
            </a:solidFill>
            <a:prstDash val="solid"/>
          </a:ln>
          <a:effectLst>
            <a:outerShdw sx="100000" sy="100000" kx="0" ky="0" algn="bl" rotWithShape="0" blurRad="76200" dist="25400" dir="2700000">
              <a:srgbClr val="000000">
                <a:alpha val="18000"/>
              </a:srgbClr>
            </a:outerShdw>
          </a:effectLst>
        </p:spPr>
      </p:sp>
      <p:pic>
        <p:nvPicPr>
          <p:cNvPr id="27" name="Image 2" descr="preencoded.png">    </p:cNvPr>
          <p:cNvPicPr>
            <a:picLocks noChangeAspect="1"/>
          </p:cNvPicPr>
          <p:nvPr/>
        </p:nvPicPr>
        <p:blipFill>
          <a:blip r:embed="rId3"/>
          <a:stretch>
            <a:fillRect/>
          </a:stretch>
        </p:blipFill>
        <p:spPr>
          <a:xfrm>
            <a:off x="6446520" y="3776472"/>
            <a:ext cx="384048" cy="384048"/>
          </a:xfrm>
          <a:prstGeom prst="rect">
            <a:avLst/>
          </a:prstGeom>
        </p:spPr>
      </p:pic>
      <p:sp>
        <p:nvSpPr>
          <p:cNvPr id="28" name="Text 23"/>
          <p:cNvSpPr/>
          <p:nvPr/>
        </p:nvSpPr>
        <p:spPr>
          <a:xfrm>
            <a:off x="6976872" y="3520440"/>
            <a:ext cx="470916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Enterprise-Grade Security</a:t>
            </a:r>
            <a:endParaRPr lang="en-US" sz="1300" dirty="0"/>
          </a:p>
        </p:txBody>
      </p:sp>
      <p:sp>
        <p:nvSpPr>
          <p:cNvPr id="29" name="Text 24"/>
          <p:cNvSpPr/>
          <p:nvPr/>
        </p:nvSpPr>
        <p:spPr>
          <a:xfrm>
            <a:off x="6976872" y="3886200"/>
            <a:ext cx="4709160" cy="658368"/>
          </a:xfrm>
          <a:prstGeom prst="rect">
            <a:avLst/>
          </a:prstGeom>
          <a:noFill/>
          <a:ln/>
        </p:spPr>
        <p:txBody>
          <a:bodyPr wrap="square" lIns="0" tIns="0" rIns="0" bIns="0" rtlCol="0" anchor="ctr"/>
          <a:lstStyle/>
          <a:p>
            <a:pPr indent="0" marL="0">
              <a:buNone/>
            </a:pPr>
            <a:r>
              <a:rPr lang="en-US" sz="1050" dirty="0">
                <a:solidFill>
                  <a:srgbClr val="A8BBCC"/>
                </a:solidFill>
                <a:latin typeface="Calibri" pitchFamily="34" charset="0"/>
                <a:ea typeface="Calibri" pitchFamily="34" charset="-122"/>
                <a:cs typeface="Calibri" pitchFamily="34" charset="-120"/>
              </a:rPr>
              <a:t>Zero-trust architecture with Key Vault, Managed Identities, WAF, and Private Endpoints meets DORA, PCI-DSS, and SOC 2 requirements.</a:t>
            </a:r>
            <a:endParaRPr lang="en-US" sz="1050" dirty="0"/>
          </a:p>
        </p:txBody>
      </p:sp>
      <p:sp>
        <p:nvSpPr>
          <p:cNvPr id="30" name="Shape 25"/>
          <p:cNvSpPr/>
          <p:nvPr/>
        </p:nvSpPr>
        <p:spPr>
          <a:xfrm>
            <a:off x="365760" y="4846320"/>
            <a:ext cx="5623560" cy="1234440"/>
          </a:xfrm>
          <a:prstGeom prst="roundRect">
            <a:avLst>
              <a:gd name="adj" fmla="val 8889"/>
            </a:avLst>
          </a:prstGeom>
          <a:solidFill>
            <a:srgbClr val="112347"/>
          </a:solidFill>
          <a:ln w="12700">
            <a:solidFill>
              <a:srgbClr val="1A3A5C"/>
            </a:solidFill>
            <a:prstDash val="solid"/>
          </a:ln>
          <a:effectLst>
            <a:outerShdw sx="100000" sy="100000" kx="0" ky="0" algn="bl" rotWithShape="0" blurRad="76200" dist="25400" dir="2700000">
              <a:srgbClr val="000000">
                <a:alpha val="18000"/>
              </a:srgbClr>
            </a:outerShdw>
          </a:effectLst>
        </p:spPr>
      </p:sp>
      <p:pic>
        <p:nvPicPr>
          <p:cNvPr id="31" name="Image 3" descr="preencoded.png">    </p:cNvPr>
          <p:cNvPicPr>
            <a:picLocks noChangeAspect="1"/>
          </p:cNvPicPr>
          <p:nvPr/>
        </p:nvPicPr>
        <p:blipFill>
          <a:blip r:embed="rId4"/>
          <a:stretch>
            <a:fillRect/>
          </a:stretch>
        </p:blipFill>
        <p:spPr>
          <a:xfrm>
            <a:off x="548640" y="5193792"/>
            <a:ext cx="384048" cy="384048"/>
          </a:xfrm>
          <a:prstGeom prst="rect">
            <a:avLst/>
          </a:prstGeom>
        </p:spPr>
      </p:pic>
      <p:sp>
        <p:nvSpPr>
          <p:cNvPr id="32" name="Text 26"/>
          <p:cNvSpPr/>
          <p:nvPr/>
        </p:nvSpPr>
        <p:spPr>
          <a:xfrm>
            <a:off x="1078992" y="4937760"/>
            <a:ext cx="470916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Elastic Scalability</a:t>
            </a:r>
            <a:endParaRPr lang="en-US" sz="1300" dirty="0"/>
          </a:p>
        </p:txBody>
      </p:sp>
      <p:sp>
        <p:nvSpPr>
          <p:cNvPr id="33" name="Text 27"/>
          <p:cNvSpPr/>
          <p:nvPr/>
        </p:nvSpPr>
        <p:spPr>
          <a:xfrm>
            <a:off x="1078992" y="5303520"/>
            <a:ext cx="4709160" cy="658368"/>
          </a:xfrm>
          <a:prstGeom prst="rect">
            <a:avLst/>
          </a:prstGeom>
          <a:noFill/>
          <a:ln/>
        </p:spPr>
        <p:txBody>
          <a:bodyPr wrap="square" lIns="0" tIns="0" rIns="0" bIns="0" rtlCol="0" anchor="ctr"/>
          <a:lstStyle/>
          <a:p>
            <a:pPr indent="0" marL="0">
              <a:buNone/>
            </a:pPr>
            <a:r>
              <a:rPr lang="en-US" sz="1050" dirty="0">
                <a:solidFill>
                  <a:srgbClr val="A8BBCC"/>
                </a:solidFill>
                <a:latin typeface="Calibri" pitchFamily="34" charset="0"/>
                <a:ea typeface="Calibri" pitchFamily="34" charset="-122"/>
                <a:cs typeface="Calibri" pitchFamily="34" charset="-120"/>
              </a:rPr>
              <a:t>AKS HPA scales pods based on CPU/memory metrics. Azure Front Door distributes global load. The platform handles IPO-day traffic spikes.</a:t>
            </a:r>
            <a:endParaRPr lang="en-US" sz="1050" dirty="0"/>
          </a:p>
        </p:txBody>
      </p:sp>
      <p:sp>
        <p:nvSpPr>
          <p:cNvPr id="34" name="Shape 28"/>
          <p:cNvSpPr/>
          <p:nvPr/>
        </p:nvSpPr>
        <p:spPr>
          <a:xfrm>
            <a:off x="6263640" y="4846320"/>
            <a:ext cx="5623560" cy="1234440"/>
          </a:xfrm>
          <a:prstGeom prst="roundRect">
            <a:avLst>
              <a:gd name="adj" fmla="val 8889"/>
            </a:avLst>
          </a:prstGeom>
          <a:solidFill>
            <a:srgbClr val="112347"/>
          </a:solidFill>
          <a:ln w="12700">
            <a:solidFill>
              <a:srgbClr val="1A3A5C"/>
            </a:solidFill>
            <a:prstDash val="solid"/>
          </a:ln>
          <a:effectLst>
            <a:outerShdw sx="100000" sy="100000" kx="0" ky="0" algn="bl" rotWithShape="0" blurRad="76200" dist="25400" dir="2700000">
              <a:srgbClr val="000000">
                <a:alpha val="18000"/>
              </a:srgbClr>
            </a:outerShdw>
          </a:effectLst>
        </p:spPr>
      </p:sp>
      <p:pic>
        <p:nvPicPr>
          <p:cNvPr id="35" name="Image 4" descr="preencoded.png">    </p:cNvPr>
          <p:cNvPicPr>
            <a:picLocks noChangeAspect="1"/>
          </p:cNvPicPr>
          <p:nvPr/>
        </p:nvPicPr>
        <p:blipFill>
          <a:blip r:embed="rId5"/>
          <a:stretch>
            <a:fillRect/>
          </a:stretch>
        </p:blipFill>
        <p:spPr>
          <a:xfrm>
            <a:off x="6446520" y="5193792"/>
            <a:ext cx="384048" cy="384048"/>
          </a:xfrm>
          <a:prstGeom prst="rect">
            <a:avLst/>
          </a:prstGeom>
        </p:spPr>
      </p:pic>
      <p:sp>
        <p:nvSpPr>
          <p:cNvPr id="36" name="Text 29"/>
          <p:cNvSpPr/>
          <p:nvPr/>
        </p:nvSpPr>
        <p:spPr>
          <a:xfrm>
            <a:off x="6976872" y="4937760"/>
            <a:ext cx="470916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Reduced Ops Overhead</a:t>
            </a:r>
            <a:endParaRPr lang="en-US" sz="1300" dirty="0"/>
          </a:p>
        </p:txBody>
      </p:sp>
      <p:sp>
        <p:nvSpPr>
          <p:cNvPr id="37" name="Text 30"/>
          <p:cNvSpPr/>
          <p:nvPr/>
        </p:nvSpPr>
        <p:spPr>
          <a:xfrm>
            <a:off x="6976872" y="5303520"/>
            <a:ext cx="4709160" cy="658368"/>
          </a:xfrm>
          <a:prstGeom prst="rect">
            <a:avLst/>
          </a:prstGeom>
          <a:noFill/>
          <a:ln/>
        </p:spPr>
        <p:txBody>
          <a:bodyPr wrap="square" lIns="0" tIns="0" rIns="0" bIns="0" rtlCol="0" anchor="ctr"/>
          <a:lstStyle/>
          <a:p>
            <a:pPr indent="0" marL="0">
              <a:buNone/>
            </a:pPr>
            <a:r>
              <a:rPr lang="en-US" sz="1050" dirty="0">
                <a:solidFill>
                  <a:srgbClr val="A8BBCC"/>
                </a:solidFill>
                <a:latin typeface="Calibri" pitchFamily="34" charset="0"/>
                <a:ea typeface="Calibri" pitchFamily="34" charset="-122"/>
                <a:cs typeface="Calibri" pitchFamily="34" charset="-120"/>
              </a:rPr>
              <a:t>Managed AKS, PostgreSQL Flexible Server, and Log Analytics eliminate undifferentiated heavy lifting. Engineers focus on product, not infrastructure.</a:t>
            </a:r>
            <a:endParaRPr lang="en-US" sz="1050" dirty="0"/>
          </a:p>
        </p:txBody>
      </p:sp>
      <p:sp>
        <p:nvSpPr>
          <p:cNvPr id="38" name="Shape 31"/>
          <p:cNvSpPr/>
          <p:nvPr/>
        </p:nvSpPr>
        <p:spPr>
          <a:xfrm>
            <a:off x="1828800" y="6281928"/>
            <a:ext cx="8503920" cy="475488"/>
          </a:xfrm>
          <a:prstGeom prst="roundRect">
            <a:avLst>
              <a:gd name="adj" fmla="val 23077"/>
            </a:avLst>
          </a:prstGeom>
          <a:solidFill>
            <a:srgbClr val="0089C8"/>
          </a:solidFill>
          <a:ln w="12700">
            <a:solidFill>
              <a:srgbClr val="00C8FF"/>
            </a:solidFill>
            <a:prstDash val="solid"/>
          </a:ln>
        </p:spPr>
      </p:sp>
      <p:sp>
        <p:nvSpPr>
          <p:cNvPr id="39" name="Text 32"/>
          <p:cNvSpPr/>
          <p:nvPr/>
        </p:nvSpPr>
        <p:spPr>
          <a:xfrm>
            <a:off x="1828800" y="6281928"/>
            <a:ext cx="8503920"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NexaBank is live at  apexbank.sathvikdevops.site  —  Built with Azure, Terraform, GitHub Actions, and AKS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NexaBank - Cloud-Native Banking Platform</dc:title>
  <dc:subject>PptxGenJS Presentation</dc:subject>
  <dc:creator>PptxGenJS</dc:creator>
  <cp:lastModifiedBy>PptxGenJS</cp:lastModifiedBy>
  <cp:revision>1</cp:revision>
  <dcterms:created xsi:type="dcterms:W3CDTF">2026-06-09T20:21:36Z</dcterms:created>
  <dcterms:modified xsi:type="dcterms:W3CDTF">2026-06-09T20:21:36Z</dcterms:modified>
</cp:coreProperties>
</file>